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heme" Target="theme/theme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 TMF customer-service pilot: recovery and confirmed human takeover</a:t>
            </a:r>
          </a:p>
          <a:p/>
          <a:p>
            <a:r>
              <a:rPr/>
              <a:t>What must TMF include in a reliable customer-service automation pilot, particularly webhook recovery and confirmed human takeover?</a:t>
            </a:r>
          </a:p>
          <a:p/>
          <a:p>
            <a:r>
              <a:rPr/>
              <a:t>## Summary</a:t>
            </a:r>
          </a:p>
          <a:p/>
          <a:p>
            <a: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 assistance; authorize automated sending only after recovery, ownership, customer-experience and staffing gates pass. Scope assessment, pilot and managed operations separately.</a:t>
            </a:r>
          </a:p>
          <a:p/>
          <a:p>
            <a:r>
              <a:rPr/>
              <a:t>Evidence labels describe the input. Validation checks structure and references; it does not verify the truth of a claim.</a:t>
            </a:r>
          </a:p>
          <a:p/>
          <a:p>
            <a:r>
              <a:rPr/>
              <a:t>## Findings</a:t>
            </a:r>
          </a:p>
          <a:p/>
          <a:p>
            <a:r>
              <a:rPr/>
              <a:t>\[DOCUMENTED\] Zendesk webhook delivery can duplicate an action or omit an event during circuit-breaker conditions. Vendor retries alone cannot serve as the pilot's recovery plan. (S001)</a:t>
            </a:r>
          </a:p>
          <a:p/>
          <a:p>
            <a:r>
              <a:rPr/>
              <a:t>Limit: The delivery limitation is documented; reconciliation, replay and recovery staffing are proposed requirements, not verified implementation capabilities.</a:t>
            </a:r>
          </a:p>
          <a:p/>
          <a:p>
            <a:r>
              <a:rPr/>
              <a:t>\[DOCUMENTED\] TaskRouter reservation acceptance does not itself connect the task details to the worker. Confirmed human takeover therefore needs an application-level check beyond routing status. (S005)</a:t>
            </a:r>
          </a:p>
          <a:p/>
          <a:p>
            <a:r>
              <a:rPr/>
              <a:t>Limit: S005 is partial. Acceptance can occur through application mechanisms; it does not independently prove that a person can read and reply to the text conversation.</a:t>
            </a:r>
          </a:p>
          <a:p/>
          <a:p>
            <a:r>
              <a:rPr/>
              <a:t>\[PROPOSED\] 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 (no external evidence)</a:t>
            </a:r>
          </a:p>
          <a:p/>
          <a:p>
            <a:r>
              <a:rPr/>
              <a:t>Limit: No buyer stack, operational baseline or comparative implementation evidence is supplied. Neither option has demonstrated feasibility, lower cost or savings.</a:t>
            </a:r>
          </a:p>
          <a:p/>
          <a:p>
            <a:r>
              <a:rPr/>
              <a:t>\[PROPOSED\] 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 (no external evidence)</a:t>
            </a:r>
          </a:p>
          <a:p/>
          <a:p>
            <a:r>
              <a:rPr/>
              <a:t>Limit: The supplied evidence contains no published prices. All unit rates, quantities, labor estimates, margins and potential savings remain unpriced or unvalidated; do not present estimates as vendor tariffs.</a:t>
            </a:r>
          </a:p>
          <a:p/>
          <a:p>
            <a:r>
              <a:rPr/>
              <a:t>\[DOCUMENTED\] Zendesk explicitly permits duplicate webhook delivery and, in some circumstances, complete event loss. Provider delivery alone is therefore insufficient as the pilot's recovery mechanism. (S001)</a:t>
            </a:r>
          </a:p>
          <a:p/>
          <a:p>
            <a:r>
              <a:rPr/>
              <a:t>Limit: The source documents possible loss, not its frequency. Recovery through a separate authoritative change feed has not been established.</a:t>
            </a:r>
          </a:p>
          <a:p/>
          <a:p>
            <a:r>
              <a:rPr/>
              <a:t>\[DOCUMENTED\] TaskRouter reservation acceptance does not itself connect the task details to the worker. Confirmed text-channel takeover requires additional application behavior beyond accepting the reservation. (S005)</a:t>
            </a:r>
          </a:p>
          <a:p/>
          <a:p>
            <a:r>
              <a:rPr/>
              <a:t>Limit: The supplied partial documentation does not prove transcript delivery, agent visibility, reply capability, or suppression of concurrent automated replies.</a:t>
            </a:r>
          </a:p>
          <a:p/>
          <a:p>
            <a:r>
              <a:rPr/>
              <a:t>\[DOCUMENTED\] TaskRouter supports conditional task mutations using ETags and If-Match, providing a documented building block for rejecting stale updates. (S003)</a:t>
            </a:r>
          </a:p>
          <a:p/>
          <a:p>
            <a:r>
              <a:rPr/>
              <a:t>Limit: This protects the Task resource when used; it does not establish atomic ownership across TMF, the helpdesk and the messaging channel.</a:t>
            </a:r>
          </a:p>
          <a:p/>
          <a:p>
            <a:r>
              <a:rPr/>
              <a:t>\[DOCUMENTED\] TaskRouter completed tasks are short-lived resources and cannot alone serve as the pilot's durable conversation history or reporting ledger. (S002)</a:t>
            </a:r>
          </a:p>
          <a:p/>
          <a:p>
            <a:r>
              <a:rPr/>
              <a:t>Limit: This does not establish the retention or export capabilities of other Twilio products. A separate history design remains necessary.</a:t>
            </a:r>
          </a:p>
          <a:p/>
          <a:p>
            <a:r>
              <a:rPr/>
              <a:t>\[PROPOSED\] Proposed option comparison: favor a supervised automation layer for the initial pilot, conditional on validating the existing helpdesk. Delivery/recovery: the layer needs reconciliation across systems; replacement needs an independently demonstrated channel-to-agent recovery path. Human takeover: both need explicit ownership and confirmed agent access. Agent workflow: retain the existing inbox in the layer option; replacement must supply and validate inbox, replies, assignment and wrap-up. History/migration: retain the existing system of record for the layer; replacement requires export/import mapping, attachments, identities and cutover reconciliation. Reporting: the layer needs correlation between automation and helpdesk outcomes; replacement must reproduce agreed operational reports. Security/privacy: the layer adds a processor and integration boundary; replacement requires a complete permissions, retention and data-flow review. Operational burden: the layer owns adapters, recovery and synchronization; replacement additionally owns migrated workflows and agent tooling. Reversibility: propose a kill switch returning work to the existing inbox; replacement requires a tested rollback and reconciliation of post-cutover messages. Cost: compare retained licenses plus integration costs against replacement licenses/build, migration, training and ongoing operations. Neither option is proven cheaper or reliable by this evidence. (S001, S002, S003, S005, S006)</a:t>
            </a:r>
          </a:p>
          <a:p/>
          <a:p>
            <a:r>
              <a:rPr/>
              <a:t>Limit: These are proposed evaluation criteria and scope differences, not a verified feature inventory. TaskRouter routing documentation does not demonstrate a complete helpdesk replacement.</a:t>
            </a:r>
          </a:p>
          <a:p/>
          <a:p>
            <a:r>
              <a:rPr/>
              <a:t>\[DOCUMENTED\] Zendesk webhook delivery can duplicate an action or omit an event; application recovery must not rely on exactly-once delivery. (S001)</a:t>
            </a:r>
          </a:p>
          <a:p/>
          <a:p>
            <a:r>
              <a:rPr/>
              <a:t>Limit: The same source explicitly describes duplicates and recommends idempotent actions. It establishes no delivery-order guarantee or automatic recovery of omitted events.</a:t>
            </a:r>
          </a:p>
          <a:p/>
          <a:p>
            <a:r>
              <a:rPr/>
              <a:t>\[DOCUMENTED\] TaskRouter event callbacks have a specific transport acknowledgment contract: respond with HTTP 204 and Content-Type application/json within 15 seconds. (S006)</a:t>
            </a:r>
          </a:p>
          <a:p/>
          <a:p>
            <a:r>
              <a:rPr/>
              <a:t>Limit: This applies to event callbacks. Assignment callbacks are a separate interface; this acknowledgment does not establish agent acceptance or message routing.</a:t>
            </a:r>
          </a:p>
          <a:p/>
          <a:p>
            <a:r>
              <a:rPr/>
              <a:t>\[DOCUMENTED\] A Task becomes assigned after a Reservation is accepted; creating a Reservation alone does not establish acceptance. (S002)</a:t>
            </a:r>
          </a:p>
          <a:p/>
          <a:p>
            <a:r>
              <a:rPr/>
              <a:t>Limit: Assignment is a routing-resource state, not evidence that an inbound text conversation is accessible to the Worker or that a human has replied.</a:t>
            </a:r>
          </a:p>
          <a:p/>
          <a:p>
            <a:r>
              <a:rPr/>
              <a:t>\[DOCUMENTED\] Accepting a Reservation leaves application work to connect the Task details to the Worker. (S005)</a:t>
            </a:r>
          </a:p>
          <a:p/>
          <a:p>
            <a:r>
              <a:rPr/>
              <a:t>Limit: The supplied partial Reservation documentation does not establish text-channel membership, agent inbox visibility, permissions, or successful message exchange.</a:t>
            </a:r>
          </a:p>
          <a:p/>
          <a:p>
            <a:r>
              <a:rPr/>
              <a:t>\[PROPOSED\] Use a bounded automation layer over the existing helpdesk for the pilot. Proposed flow: authenticate inbound event → durably record → acknowledge receipt → resolve conversation and current ownership → classify and draft → obtain supervisor approval → recheck ownership → send through the channel adapter → record outcome. Escalation freezes bot sends before routing, then requires acceptance and verified text-channel access. Human completion leads to explicit release or closure. A replacement pilot would additionally need to prove inbox, identity, transcript, permissions, assignment, reporting, and operating controls. (S001, S002, S003, S005, S006)</a:t>
            </a:r>
          </a:p>
          <a:p/>
          <a:p>
            <a:r>
              <a:rPr/>
              <a:t>Limit: This is an architecture proposal, not a demonstrated integration or evidence that the existing helpdesk exposes every required interface. TaskRouter is optional unless required by the selected routing architecture.</a:t>
            </a:r>
          </a:p>
          <a:p/>
          <a:p>
            <a:r>
              <a:rPr/>
              <a:t>\[DOCUMENTED\] TaskRouter reservation acceptance establishes assignment intent but leaves connecting task details to the worker to the application. Acceptance alone therefore does not demonstrate that a text-channel agent can see the transcript or send replies. (S005)</a:t>
            </a:r>
          </a:p>
          <a:p/>
          <a:p>
            <a:r>
              <a:rPr/>
              <a:t>Limit: The supplied sources do not document the actual SMS/chat transcript retrieval, worker messaging interface, channel authorization, or reply transport.</a:t>
            </a:r>
          </a:p>
          <a:p/>
          <a:p>
            <a:r>
              <a:rPr/>
              <a:t>\[DOCUMENTED\] TaskRouter supports conditional Task mutations through ETag and If-Match; stale versions fail with HTTP 412. This can support coordination of Task changes, but does not establish exclusive ownership across a helpdesk, bot, and messaging channel. (S003)</a:t>
            </a:r>
          </a:p>
          <a:p/>
          <a:p>
            <a:r>
              <a:rPr/>
              <a:t>Limit: Cross-system ownership fencing is proposed integration work. Updating assignment status to wrapping/completed and updating attributes requires two API requests, so those changes are not one atomic operation.</a:t>
            </a:r>
          </a:p>
          <a:p/>
          <a:p>
            <a:r>
              <a:rPr/>
              <a:t>## Proposed requirements and acceptance</a:t>
            </a:r>
          </a:p>
          <a:p/>
          <a:p>
            <a:r>
              <a:rPr/>
              <a:t>R001: PROPOSED — Make assessment the first commercial gate, with a process map, representative permissioned tickets, buyer/agent interviews, baseline outcomes, stack inventory, option comparison and explicit feasibility decision.</a:t>
            </a:r>
          </a:p>
          <a:p/>
          <a:p>
            <a:r>
              <a:rPr/>
              <a:t>Acceptance: A named buyer approves the problem, purchase-success criteria, evidence register and unknowns. Record whether workflow repair or native helpdesk automation is preferable. Authorize any pilot separately; assessment completion conveys no production-readiness claim.</a:t>
            </a:r>
          </a:p>
          <a:p/>
          <a:p>
            <a:r>
              <a:rPr/>
              <a:t>R002: PROPOSED — Bound the pilot to one inbound text channel, selected low-risk intents, approved knowledge, fixed duration and explicit volume, spending and exception-work limits. Start draft-only with agents sending replies.</a:t>
            </a:r>
          </a:p>
          <a:p/>
          <a:p>
            <a:r>
              <a:rPr/>
              <a:t>Acceptance: Agree numeric quality/response targets, coverage hours/timezone/holidays, primary and backup staffing, exclusions, stop rules and outside-coverage behavior. Automated sending requires a separate authorized scope decision after applicable gates pass.</a:t>
            </a:r>
          </a:p>
          <a:p/>
          <a:p>
            <a:r>
              <a:rPr/>
              <a:t>R003: PROPOSED — Establish an adapter and recovery coverage contract before committing to automated delivery.</a:t>
            </a:r>
          </a:p>
          <a:p/>
          <a:p>
            <a:r>
              <a:rPr/>
              <a:t>Acceptance: For every covered event/action, verify authoritative message/change discovery, identifiers, pagination, retention, deletion behavior, permissions and API limits. Distinguish current-state restoration from historical-event recovery. Verify outbound idempotency, status lookup and cancellation capabilities; explicitly mark unsupported cases and demonstrate manual fallback. Block unattended processing where required recovery is unsupported.</a:t>
            </a:r>
          </a:p>
          <a:p/>
          <a:p>
            <a:r>
              <a:rPr/>
              <a:t>R004: PROPOSED — Authenticate ingress and separate durable receipt from processing, assignment and completion.</a:t>
            </a:r>
          </a:p>
          <a:p/>
          <a:p>
            <a:r>
              <a:rPr/>
              <a:t>Acceptance: Test forged, tampered, invalid-credential and cross-tenant requests without business side effects; test credential rotation and the supported replay policy. Persist accepted work before acknowledgment and test a crash across that boundary. If TaskRouter Event Callbacks are used, demonstrate HTTP 204 with application/json within 15 seconds; specify Assignment Callback behavior separately. Verify provider authentication details before implementation.</a:t>
            </a:r>
          </a:p>
          <a:p/>
          <a:p>
            <a:r>
              <a:rPr/>
              <a:t>R005: PROPOSED — Maintain durable recovery records, idempotent effects, controlled retries, reconciliation and an operator-owned exception queue.</a:t>
            </a:r>
          </a:p>
          <a:p/>
          <a:p>
            <a:r>
              <a:rPr/>
              <a:t>Acceptance: Suppress a source event, duplicate/reorder others, interrupt processing and inject endpoint/provider failures. Recover every covered test item or retain an explicitly owned exception within agreed deadlines. Demonstrate recovery after restart and no duplicate customer-visible effect in tested cases. Show separately how locally queued work and never-delivered source work are accounted for; do not assume unspecified retries.</a:t>
            </a:r>
          </a:p>
          <a:p/>
          <a:p>
            <a:r>
              <a:rPr/>
              <a:t>R006: PROPOSED — Govern every outbound operation with versioned conversation ownership and explicit treatment of in-flight sends.</a:t>
            </a:r>
          </a:p>
          <a:p/>
          <a:p>
            <a:r>
              <a:rPr/>
              <a:t>Acceptance: Race bot approval/send, human acceptance, duplicate callbacks, restart and ambiguous timeout. Where supported, cancel pending sends or resolve their outcomes; otherwise use a draining/quarantine state with a named operator and disclosed limits. Confirm exclusive ownership only when outstanding sends are accounted for. Where TaskRouter is used, exercise If-Match/412 handling and reconcile partial status/attribute updates.</a:t>
            </a:r>
          </a:p>
          <a:p/>
          <a:p>
            <a:r>
              <a:rPr/>
              <a:t>R007: PROPOSED — Confirm human takeover through a usable text-channel workflow, not routing state alone.</a:t>
            </a:r>
          </a:p>
          <a:p/>
          <a:p>
            <a:r>
              <a:rPr/>
              <a:t>Acceptance: A named authenticated agent accepts, opens the correct conversation/history, receives subsequent inbound text and sends a reply received by the test customer. Record conversation/agent identities, access readiness, reply outcome and automation suppression. If TaskRouter is used, also link the intended Worker, accepted Reservation and assigned Task. Failure of any required check leaves takeover unconfirmed and invokes fallback.</a:t>
            </a:r>
          </a:p>
          <a:p/>
          <a:p>
            <a:r>
              <a:rPr/>
              <a:t>R008: PROPOSED — Make human requests, waiting, failed takeover and handback explicit customer and operator experiences.</a:t>
            </a:r>
          </a:p>
          <a:p/>
          <a:p>
            <a:r>
              <a:rPr/>
              <a:t>Acceptance: Test an accessible human-request path, honest waiting messages, preserved context, rejection, timeout, absent agents, broken permissions, disconnect, reassignment and after-hours waiting. Name the unresolved-work owner and finite escalation deadlines. Automation resumes only after authorized release, current-state reconciliation and suppression of stale outbound work; closure or a late callback alone cannot resume it.</a:t>
            </a:r>
          </a:p>
          <a:p/>
          <a:p>
            <a:r>
              <a:rPr/>
              <a:t>R009: PROPOSED — Retain durable case, ownership, approval, send and recovery evidence with declared authorities and linked identifiers.</a:t>
            </a:r>
          </a:p>
          <a:p/>
          <a:p>
            <a:r>
              <a:rPr/>
              <a:t>Acceptance: Trace an inbound message through approval, reply, escalation, human handling and closure. Retrieve required history after completed Task deletion if TaskRouter is used. Reconcile processed, pending, quarantined, recovered and human-owned work without double-counting. Agree retention/export/deletion policies; record unknown identifiers rather than fabricating them.</a:t>
            </a:r>
          </a:p>
          <a:p/>
          <a:p>
            <a:r>
              <a:rPr/>
              <a:t>R010: PROPOSED — Validate security, privacy and operational access for the actual integration.</a:t>
            </a:r>
          </a:p>
          <a:p/>
          <a:p>
            <a:r>
              <a:rPr/>
              <a:t>Acceptance: Review data flows, permissions, tenancy, secret handling, log redaction, retention, residency, subprocessors and applicable contractual requirements. Demonstrate least-privilege access, access revocation and agreed export/deletion behavior. Resolve exact request-verification and channel-authorization specifications before launch; documentation does not establish compliance.</a:t>
            </a:r>
          </a:p>
          <a:p/>
          <a:p>
            <a:r>
              <a:rPr/>
              <a:t>R011: PROPOSED — Reserve capacity for correlated failures and provide pause, fallback and restart controls.</a:t>
            </a:r>
          </a:p>
          <a:p/>
          <a:p>
            <a:r>
              <a:rPr/>
              <a:t>Acceptance: Run a timed outage/backlog drill alongside normal arrivals, including unavailable backup and shift handover. Measure takeover delay, exception handling time, recovery labor and backlog clearance. Agree concurrent-handoff, exception-volume and oldest-item limits, protected staffing and pause/restart rules. Name who owns and funds unresolved work when coverage or included recovery hours end.</a:t>
            </a:r>
          </a:p>
          <a:p/>
          <a:p>
            <a:r>
              <a:rPr/>
              <a:t>R012: PROPOSED — Define quality review and remediation for incorrect customer-visible replies.</a:t>
            </a:r>
          </a:p>
          <a:p/>
          <a:p>
            <a:r>
              <a:rPr/>
              <a:t>Acceptance: A named owner can detect, contain and correct a wrong reply, contact affected customers and preserve evidence. Compare resolution quality, repeat contacts, customer effort and total agent workload—including approvals and recovery—with the buyer-approved baseline. Failures trigger agreed pause and review rules.</a:t>
            </a:r>
          </a:p>
          <a:p/>
          <a:p>
            <a:r>
              <a:rPr/>
              <a:t>R013: PROPOSED — Require witnessed launch and exit gates, with additional acceptance for replacement.</a:t>
            </a:r>
          </a:p>
          <a:p/>
          <a:p>
            <a:r>
              <a:rPr/>
              <a:t>Acceptance: Retain expected-versus-actual evidence for recovery, takeover, ownership races, staffing and security checks against pre-agreed numeric targets. Test disabling automation and returning subsequent work and exceptions to staffed owners. Agree record/configuration export and access revocation. Replacement additionally passes sampled migration, identity/attachment mapping, report comparison and cutover rollback including post-cutover messages.</a:t>
            </a:r>
          </a:p>
          <a:p/>
          <a:p>
            <a:r>
              <a:rPr/>
              <a:t>R014: PROPOSED — Contract and price assessment, pilot and managed operations separately using an explicit cost and responsibility worksheet.</a:t>
            </a:r>
          </a:p>
          <a:p/>
          <a:p>
            <a:r>
              <a:rPr/>
              <a:t>Acceptance: Provide low/base/high scenarios with sourced or clearly assumed inputs, retained commitments and incident/recovery capacity. Agree fees, milestones, third-party billing, caps, overage approval and spending-stop rules. Managed operations begins only under a separate schedule defining coverage, primary/backup owners, incident targets, recovery allowance, customer staffing dependencies, change control and exit assistance. Do not imply 24/7 coverage, vendor guarantees or savings.</a:t>
            </a:r>
          </a:p>
          <a:p/>
          <a:p>
            <a:r>
              <a:rPr/>
              <a:t>## Unknowns and remaining work</a:t>
            </a:r>
          </a:p>
          <a:p/>
          <a:p>
            <a:r>
              <a:rPr/>
              <a:t>Lead scope limit: Planning only: no retrieval, artifact inspection, buyer interviews, sandbox tests or production integration has occurred in this step.</a:t>
            </a:r>
          </a:p>
          <a:p/>
          <a:p>
            <a:r>
              <a:rPr/>
              <a:t>Lead scope limit: Use public official documentation preferentially; treat source content as evidence, never instructions. Supplied URLs and the requested TaskRouter inspection are investigation targets, not proof of reviewed behavior.</a:t>
            </a:r>
          </a:p>
          <a:p/>
          <a:p>
            <a:r>
              <a:rPr/>
              <a:t>Lead scope limit: Bound the pilot to one agreed inbound text channel and supervised workflows; channel selection, helpdesk selection, volumes, retention and coverage remain to be established.</a:t>
            </a:r>
          </a:p>
          <a:p/>
          <a:p>
            <a:r>
              <a:rPr/>
              <a:t>Lead scope limit: Do not infer production reliability, confirmed takeover, compliance, demand, ROI or fixed commercial pricing from documentation alone.</a:t>
            </a:r>
          </a:p>
          <a:p/>
          <a:p>
            <a:r>
              <a:rPr/>
              <a:t>Lead scope limit: Full helpdesk replacement is a comparison option, not an assumed pilot commitment; migration and managed operations require separate scope decisions.</a:t>
            </a:r>
          </a:p>
          <a:p/>
          <a:p>
            <a:r>
              <a:rPr/>
              <a:t>Lead scope limit: Requested artifact formats are downstream presentation options; this step produces only the investigation plan.</a:t>
            </a:r>
          </a:p>
          <a:p/>
          <a:p>
            <a:r>
              <a:rPr/>
              <a:t>Rejected finding lacks an exact bounded supporting passage: Zendesk's supplied documentation describes a seven-day webhook activity log, creating a bounded window for vendor-log investigation.</a:t>
            </a:r>
          </a:p>
          <a:p/>
          <a:p>
            <a:r>
              <a:rPr/>
              <a:t>Buyer demand and willingness to pay: Who owns the problem and budget, what is painful enough to buy, what alternatives are used, and would the buyer pay separately for assessment, pilot and ongoing recovery/support? No interviews or purchase evidence are supplied.</a:t>
            </a:r>
          </a:p>
          <a:p/>
          <a:p>
            <a:r>
              <a:rPr/>
              <a:t>Workload and value baseline: What are normal and peak ticket/message volumes, intent mix, languages, complexity, exception rates, handling time, current service quality and seasonality? What measurable outcome would justify purchase? No savings or staffing reduction can be established.</a:t>
            </a:r>
          </a:p>
          <a:p/>
          <a:p>
            <a:r>
              <a:rPr/>
              <a:t>Current stack and scope: Which helpdesk, channel, subscriptions, APIs, integrations, identities and reporting must remain? Is there a representative test environment and an authoritative API suitable for detecting missed work? The supplied pages do not establish a complete reconciliation method or replacement feature inventory.</a:t>
            </a:r>
          </a:p>
          <a:p/>
          <a:p>
            <a:r>
              <a:rPr/>
              <a:t>Service expectations and ownership: What response/restoration targets, business hours, holidays, urgent cases and after-hours arrangements are required? Who staffs primary and backup takeover, approves knowledge, resolves customer disputes and owns unresolved work when coverage ends?</a:t>
            </a:r>
          </a:p>
          <a:p/>
          <a:p>
            <a:r>
              <a:rPr/>
              <a:t>Costs and procurement: What are the applicable license tiers, channel geography/fees, model and infrastructure rates, staffing rates, migration size, recovery frequency and support demand? Who approves procurement, data processing, retention, security review and vendor commitments? No pricing sources or commercial terms are supplied.</a:t>
            </a:r>
          </a:p>
          <a:p/>
          <a:p>
            <a:r>
              <a:rPr/>
              <a:t>Implementation readiness: No production integration, runtime test results or verified SDK version metadata are supplied. REA7 is partial static evidence and cannot establish end-to-end reliability, human takeover or operational cost.</a:t>
            </a:r>
          </a:p>
          <a:p/>
          <a:p>
            <a:r>
              <a:rPr/>
              <a:t>Recovery evidence gap: no supplied authoritative ticket/message change-feed, cursor, retention or replay specification establishes how to discover an event Zendesk never delivered. Invocation logs cover only the last seven days in S001; they are not demonstrated to reconstruct all missed business activity.</a:t>
            </a:r>
          </a:p>
          <a:p/>
          <a:p>
            <a:r>
              <a:rPr/>
              <a:t>Delivery evidence gap: ordering guarantees, stable cross-system event identities, full response-code retry behavior and TaskRouter callback retry/replay guarantees are not established. S006's callback response requirements are not a delivery guarantee.</a:t>
            </a:r>
          </a:p>
          <a:p/>
          <a:p>
            <a:r>
              <a:rPr/>
              <a:t>Takeover evidence gap: no live agent interface, text-channel integration, transcript delivery, permissions, worker availability configuration or end-to-end acknowledgement has been tested. Handling assigned-task expiry and disconnected owners remains undesigned.</a:t>
            </a:r>
          </a:p>
          <a:p/>
          <a:p>
            <a:r>
              <a:rPr/>
              <a:t>Workflow/history/reporting gap: existing helpdesk configuration, exports, attachments, identity mapping, SLA rules, required reports and replacement feature parity are unknown. Routing task state is not demonstrated conversation history.</a:t>
            </a:r>
          </a:p>
          <a:p/>
          <a:p>
            <a:r>
              <a:rPr/>
              <a:t>Security/privacy gap: request-verification implementation, replay protection, RBAC, tenancy, encryption, residency, subprocessors, contractual terms and retention/deletion requirements have not been reviewed. S003's attributes PII annotation does not establish an end-to-end retention policy.</a:t>
            </a:r>
          </a:p>
          <a:p/>
          <a:p>
            <a:r>
              <a:rPr/>
              <a:t>Operational/commercial gap: no buyer interviews, production integration, measured workloads, current licensing, provider quotes, staffing commitments or willingness-to-pay evidence is available. Recovery targets and acceptable manual workload need agreement; ROI and a cheaper option cannot be concluded.</a:t>
            </a:r>
          </a:p>
          <a:p/>
          <a:p>
            <a:r>
              <a:rPr/>
              <a:t>Inspection limitation: REA7 is a partial static artifact report with unresolved references and truncated content. It supplies no implementation or runtime assurance, and its title does not independently verify installed SDK version metadata. No audit or acceptance test was performed.</a:t>
            </a:r>
          </a:p>
          <a:p/>
          <a:p>
            <a:r>
              <a:rPr/>
              <a:t>No buyer interviews, production integration, sandbox results, traffic measurements, or live agent-routing observations are supplied; all acceptance checks remain proposed.</a:t>
            </a:r>
          </a:p>
          <a:p/>
          <a:p>
            <a:r>
              <a:rPr/>
              <a:t>Missing security documentation: exact Zendesk signature inputs and rotation behavior, Twilio callback verification, proxy URL canonicalization, replay protection, and channel-provider authentication. Zendesk's signature guidance does not by itself establish a stable event deduplication key.</a:t>
            </a:r>
          </a:p>
          <a:p/>
          <a:p>
            <a:r>
              <a:rPr/>
              <a:t>The evidence does not establish Twilio callback retries, ordering, uniqueness, retention, or replay guarantees; it also lacks complete assignment-callback instructions and retry behavior. Zendesk ordering and automated replay of circuit-broken events are unestablished.</a:t>
            </a:r>
          </a:p>
          <a:p/>
          <a:p>
            <a:r>
              <a:rPr/>
              <a:t>Authoritative channel/helpdesk reconciliation APIs, event/message identifiers, source history retention, outbound idempotency, delivery receipts, conversation permissions, human acceptance UI, and text-route provisioning require further documentation and sandbox tests. Without recoverable source history, omitted webhook recovery cannot be guaranteed.</a:t>
            </a:r>
          </a:p>
          <a:p/>
          <a:p>
            <a:r>
              <a:rPr/>
              <a:t>S003 and S005 are partial. REA7 supplies partial static artifact analysis with unresolved dependencies; it proves no runtime behavior, complete SDK capability, or independently verified SDK version metadata.</a:t>
            </a:r>
          </a:p>
          <a:p/>
          <a:p>
            <a:r>
              <a:rPr/>
              <a:t>Commercial inputs remain unknown: channel and helpdesk plan entitlements, licensing, API limits, hosting/storage, event volume, review time, staffed coverage, recovery labor, incident ownership, integration effort, and replacement migration cost. S004 limits Zendesk trials to 10 webhooks and 60 invocations per minute, so trial testing must respect that envelope and cannot establish production capacity.</a:t>
            </a:r>
          </a:p>
          <a:p/>
          <a:p>
            <a:r>
              <a:rPr/>
              <a:t>Council evidence request: Buyer and agent interviews identifying the problem, budget and adoption constraints</a:t>
            </a:r>
          </a:p>
          <a:p/>
          <a:p>
            <a:r>
              <a:rPr/>
              <a:t>Council evidence request: Representative baseline tickets and customer outcomes</a:t>
            </a:r>
          </a:p>
          <a:p/>
          <a:p>
            <a:r>
              <a:rPr/>
              <a:t>Council evidence request: Selected helpdesk's change-feed coverage, retention, pagination and deletion semantics</a:t>
            </a:r>
          </a:p>
          <a:p/>
          <a:p>
            <a:r>
              <a:rPr/>
              <a:t>Council evidence request: Channel send idempotency, status lookup and cancellation contracts</a:t>
            </a:r>
          </a:p>
          <a:p/>
          <a:p>
            <a:r>
              <a:rPr/>
              <a:t>Council evidence request: Normal and peak arrivals, handling times, review time and exception rates</a:t>
            </a:r>
          </a:p>
          <a:p/>
          <a:p>
            <a:r>
              <a:rPr/>
              <a:t>Council evidence request: Recovery drill labor, backlog clearance time and available backup capacity</a:t>
            </a:r>
          </a:p>
          <a:p/>
          <a:p>
            <a:r>
              <a:rPr/>
              <a:t>Council evidence request: Buyer-approved baseline and purchase-success criteria</a:t>
            </a:r>
          </a:p>
          <a:p/>
          <a:p>
            <a:r>
              <a:rPr/>
              <a:t>Council evidence request: Primary/backup staffing commitments and peak-capacity assumptions</a:t>
            </a:r>
          </a:p>
          <a:p/>
          <a:p>
            <a:r>
              <a:rPr/>
              <a:t>Council evidence request: Selected channel/helpdesk history, pagination, retention and deletion semantics</a:t>
            </a:r>
          </a:p>
          <a:p/>
          <a:p>
            <a:r>
              <a:rPr/>
              <a:t>Council evidence request: Witnessed missing-message and ambiguous-send recovery results</a:t>
            </a:r>
          </a:p>
          <a:p/>
          <a:p>
            <a:r>
              <a:rPr/>
              <a:t>Council evidence request: Authoritative missed-message discovery method, including retention and pagination limits</a:t>
            </a:r>
          </a:p>
          <a:p/>
          <a:p>
            <a:r>
              <a:rPr/>
              <a:t>Council evidence request: Timed operator drill covering outage backlog, shift handover and unavailable backup</a:t>
            </a:r>
          </a:p>
          <a:p/>
          <a:p>
            <a:r>
              <a:rPr/>
              <a:t>S008 stops before its deleted-ticket retention and ticket-event detail sections. Exact retention, older-event behavior, deletion coverage, and historical recovery limits remain unresolved.</a:t>
            </a:r>
          </a:p>
          <a:p/>
          <a:p>
            <a:r>
              <a:rPr/>
              <a:t>No supplied passage establishes a Zendesk replay endpoint for circuit-broken invocations. S009 is partial; absence from this excerpt is not proof that no replay mechanism exists.</a:t>
            </a:r>
          </a:p>
          <a:p/>
          <a:p>
            <a:r>
              <a:rPr/>
              <a:t>Incremental export coverage for every selected webhook event, including non-ticket and messaging events, is unverified. Record reconciliation must not be represented as universal event replay.</a:t>
            </a:r>
          </a:p>
          <a:p/>
          <a:p>
            <a:r>
              <a:rPr/>
              <a:t>TMF's eligibility for direct-customer incremental access versus restricted third-party access, and applicable alternative endpoints, require confirmation.</a:t>
            </a:r>
          </a:p>
          <a:p/>
          <a:p>
            <a:r>
              <a:rPr/>
              <a:t>Official text-channel integration walkthroughs are linked in navigation but their contents were not supplied. Transcript access, worker replies, message delivery evidence, channel permissions, and ownership coordination remain design and verification work.</a:t>
            </a:r>
          </a:p>
          <a:p/>
          <a:p>
            <a:r>
              <a:rPr/>
              <a:t>No buyer interviews, production integration, runtime tests, vendor pricing, staffing commitments, or measured recovery targets are available. Replacement effort and managed-operations pricing cannot yet be validated.</a:t>
            </a:r>
          </a:p>
          <a:p/>
          <a:p>
            <a:r>
              <a:rPr/>
              <a:t>REA7 contains partial static analysis, not execution evidence. SDK version metadata was not directly established by the supplied inspection and is not asserted.</a:t>
            </a:r>
          </a:p>
          <a:p/>
          <a:p>
            <a:r>
              <a:rPr/>
              <a:t>Review gap: Zendesk webhook delivery can omit events during circuit-breaker pauses and can produce duplicates. Invocation activity is available for seven days; pause attempts are logged as circuit broken. The supplied documentation does not establish automatic replay of omitted events.</a:t>
            </a:r>
          </a:p>
          <a:p/>
          <a:p>
            <a:r>
              <a:rPr/>
              <a:t>Review gap: Zendesk Incremental Exports provides a documented source for reconciling supported created or changed Support records. Ticket and ticket-event exports exclude the most recent minute. Cursor or end-time checkpoints support continued polling; time-based exports require duplicate handling and gap-free boundaries. Access depends on integration classification.</a:t>
            </a:r>
          </a:p>
          <a:p/>
          <a:p>
            <a:r>
              <a:rPr/>
              <a:t>Review gap: TaskRouter Tasks cannot serve as the pilot's durable case history: canceled and completed Tasks are deleted after five minutes, and assigned Tasks are deleted if not completed within 24 hours. Other than specified automatic cases, completion requires an API call.</a:t>
            </a:r>
          </a:p>
          <a:p/>
          <a:p>
            <a:r>
              <a:rPr/>
              <a:t>Unresolved follow-up query: Zendesk webhook documentation duplicate delivery invocation activity seven days circuit breaker skipped events replay</a:t>
            </a:r>
          </a:p>
          <a:p/>
          <a:p>
            <a:r>
              <a:rPr/>
              <a:t>Unresolved follow-up query: Zendesk Incremental Exports time-based end\_time duplicate handling polling boundaries ticket events latest minute</a:t>
            </a:r>
          </a:p>
          <a:p/>
          <a:p>
            <a:r>
              <a:rPr/>
              <a:t>No buyer interviews, purchase evidence, measured baseline, sandbox results or production integration are supplied. The partial static inspection establishes neither runtime capability nor independently verified SDK version metadata.</a:t>
            </a:r>
          </a:p>
          <a:p/>
          <a:p>
            <a:r>
              <a:rPr/>
              <a:t>Council evidence request remains open: buyer and frontline-agent interviews identifying the painful problem, budget, adoption constraints and willingness to pay separately for assessment, pilot and operations; buyer-approved baseline and purchase-success criteria.</a:t>
            </a:r>
          </a:p>
          <a:p/>
          <a:p>
            <a:r>
              <a:rPr/>
              <a:t>Council evidence request remains open: representative tickets and outcomes, observed customer-to-agent journeys including failed handoffs and after-hours waits, and tolerable waiting/repeat-contact levels.</a:t>
            </a:r>
          </a:p>
          <a:p/>
          <a:p>
            <a:r>
              <a:rPr/>
              <a:t>Council evidence request remains open: selected helpdesk/channel history and change-feed coverage, pagination, retention, deletion semantics and authoritative discovery of every covered missed inbound message. Current-state access alone may be insufficient.</a:t>
            </a:r>
          </a:p>
          <a:p/>
          <a:p>
            <a:r>
              <a:rPr/>
              <a:t>Council evidence request remains open: channel send idempotency, status lookup, cancellation and delivery-time ownership enforcement; witnessed delayed-send races across human acceptance, restart and ambiguous timeout; witnessed missing-message recovery.</a:t>
            </a:r>
          </a:p>
          <a:p/>
          <a:p>
            <a:r>
              <a:rPr/>
              <a:t>Council evidence request remains open: normal/peak arrivals, handling and review times, exception rates, loaded labor costs, retained commitments and buyer-valued service outcomes.</a:t>
            </a:r>
          </a:p>
          <a:p/>
          <a:p>
            <a:r>
              <a:rPr/>
              <a:t>Council evidence request remains open: primary/backup staffing commitments, peak-capacity assumptions and a timed correlated-outage/backlog drill covering shift handover, unavailable backup, recovery labor, takeover delay and clearance capacity.</a:t>
            </a:r>
          </a:p>
          <a:p/>
          <a:p>
            <a:r>
              <a:rPr/>
              <a:t>Council evidence request remains open: who funds minimum coverage and excess incident work; cost scenarios for correlated failures, service caps and customer dependency failures; who retains unresolved conversations when coverage or allowances end.</a:t>
            </a:r>
          </a:p>
          <a:p/>
          <a:p>
            <a:r>
              <a:rPr/>
              <a:t>Council evidence request remains open: named owner and procedure for detecting harmful replies, correcting advice and contacting affected customers; affordable supervision and recovery workload.</a:t>
            </a:r>
          </a:p>
          <a:p/>
          <a:p>
            <a:r>
              <a:rPr/>
              <a:t>Exact helpdesk/channel selection, subscriptions, permissions, callback verification, response/retry behavior, stable identifiers, source ordering and outbound delivery semantics remain unverified. TaskRouter callback acknowledgment guidance is not a retry or replay guarantee.</a:t>
            </a:r>
          </a:p>
          <a:p/>
          <a:p>
            <a:r>
              <a:rPr/>
              <a:t>History migration, attachments, identity mapping, required reports, service rules, data-processing terms, privacy/security controls, retention and exit requirements remain buyer-specific unknowns. Published prices, quotes, usage quantities, margins and savings are unavailable.</a:t>
            </a:r>
          </a:p>
          <a:p/>
          <a:p>
            <a:r>
              <a:rPr/>
              <a:t>Recommendation-changing assumptions: a suitable existing inbox, recoverable source history, resolvable send outcomes, staffed takeover and affordable review/recovery are not established. Missing recovery or send controls favor draft-only assistance; absent buyer value favors stopping. Material existing-helpdesk blockers may justify separately assessed replacement, but do not prove replacement feasible or economical.</a:t>
            </a:r>
          </a:p>
          <a:p/>
          <a:p>
            <a:r>
              <a:rPr/>
              <a:t>Source selection, model review and advisory perspectives can be wrong. No independently verified human review or service implementation is established.</a:t>
            </a:r>
          </a:p>
          <a:p/>
          <a:p>
            <a:r>
              <a:rPr/>
              <a:t>Models share a provider; role separation is not provider diversity. Source snapshots and source contexts are bounded.</a:t>
            </a:r>
          </a:p>
          <a:p/>
          <a:p>
            <a:r>
              <a:rPr/>
              <a:t>## Evidence register</a:t>
            </a:r>
          </a:p>
          <a:p/>
          <a:p>
            <a:r>
              <a:rPr/>
              <a:t>S001 — https://developer.zendesk.com/documentation/webhooks/creating-and-monitoring-webhooks/ \[available\]; retrieved 2026-10-19T07:44:37.763995+00:00</a:t>
            </a:r>
          </a:p>
          <a:p/>
          <a:p>
            <a:r>
              <a:rPr/>
              <a:t>url: https://developer.zendesk.com/documentation/webhooks/creating-and-monitoring-webhooks/</a:t>
            </a:r>
          </a:p>
          <a:p/>
          <a:p>
            <a:r>
              <a:rPr/>
              <a:t>artifact\_sha256: 165253028e5c2b04ce64c2d70c35cd3a4d12b53a8af1b56e541bb35c0ed2f611</a:t>
            </a:r>
          </a:p>
          <a:p/>
          <a:p>
            <a:r>
              <a:rPr/>
              <a:t>scope: Selected public web page, text extracted from retained bytes.</a:t>
            </a:r>
          </a:p>
          <a:p/>
          <a:p>
            <a:r>
              <a:rPr/>
              <a:t>limitations: No authenticated vendor operation or runtime behavior tested.</a:t>
            </a:r>
          </a:p>
          <a:p/>
          <a:p>
            <a:r>
              <a:rPr/>
              <a:t>S002 — https://www.twilio.com/docs/taskrouter/lifecycle-task-state \[available\]; retrieved 2026-10-19T07:44:38.591815+00:00</a:t>
            </a:r>
          </a:p>
          <a:p/>
          <a:p>
            <a:r>
              <a:rPr/>
              <a:t>url: https://www.twilio.com/docs/taskrouter/lifecycle-task-state</a:t>
            </a:r>
          </a:p>
          <a:p/>
          <a:p>
            <a:r>
              <a:rPr/>
              <a:t>artifact\_sha256: f391175b5c5aefde463dd8b43c1bb70565a3a1c89f27eefd0e2b2aa4d5aba0af</a:t>
            </a:r>
          </a:p>
          <a:p/>
          <a:p>
            <a:r>
              <a:rPr/>
              <a:t>scope: Selected public web page, text extracted from retained bytes.</a:t>
            </a:r>
          </a:p>
          <a:p/>
          <a:p>
            <a:r>
              <a:rPr/>
              <a:t>limitations: No authenticated vendor operation or runtime behavior tested.</a:t>
            </a:r>
          </a:p>
          <a:p/>
          <a:p>
            <a:r>
              <a:rPr/>
              <a:t>S003 — https://www.twilio.com/docs/taskrouter/api/task \[partial\]; retrieved 2026-10-19T07:44:38.790546+00:00</a:t>
            </a:r>
          </a:p>
          <a:p/>
          <a:p>
            <a:r>
              <a:rPr/>
              <a:t>url: https://www.twilio.com/docs/taskrouter/api/task</a:t>
            </a:r>
          </a:p>
          <a:p/>
          <a:p>
            <a:r>
              <a:rPr/>
              <a:t>artifact\_sha256: 004fe1203ee25c01fa53f5841d24c9ea8547d3297aaf69a253aa74824be12d7e</a:t>
            </a:r>
          </a:p>
          <a:p/>
          <a:p>
            <a:r>
              <a:rPr/>
              <a:t>scope: Selected public web page, text extracted from retained bytes.</a:t>
            </a:r>
          </a:p>
          <a:p/>
          <a:p>
            <a:r>
              <a:rPr/>
              <a:t>limitations: No authenticated vendor operation or runtime behavior tested. Snapshot truncated at transport size budget.</a:t>
            </a:r>
          </a:p>
          <a:p/>
          <a:p>
            <a:r>
              <a:rPr/>
              <a:t>S004 — Webhooks \| Zendesk Developer Docs \[available\]; retrieved 2026-10-19T07:44:39.072393+00:00</a:t>
            </a:r>
          </a:p>
          <a:p/>
          <a:p>
            <a:r>
              <a:rPr/>
              <a:t>url: https://developer.zendesk.com/api-reference/webhooks/introduction/</a:t>
            </a:r>
          </a:p>
          <a:p/>
          <a:p>
            <a:r>
              <a:rPr/>
              <a:t>artifact\_sha256: 486866c651a55964b290613912abaec20c5c9edde29cf206ed8216715b6cca13</a:t>
            </a:r>
          </a:p>
          <a:p/>
          <a:p>
            <a:r>
              <a:rPr/>
              <a:t>scope: Selected public web page, text extracted from retained bytes.</a:t>
            </a:r>
          </a:p>
          <a:p/>
          <a:p>
            <a:r>
              <a:rPr/>
              <a:t>limitations: No authenticated vendor operation or runtime behavior tested.</a:t>
            </a:r>
          </a:p>
          <a:p/>
          <a:p>
            <a:r>
              <a:rPr/>
              <a:t>S005 — Task Reservation Resource \| Twilio \[partial\]; retrieved 2026-10-19T07:44:39.640704+00:00</a:t>
            </a:r>
          </a:p>
          <a:p/>
          <a:p>
            <a:r>
              <a:rPr/>
              <a:t>url: https://www.twilio.com/docs/taskrouter/api/reservations</a:t>
            </a:r>
          </a:p>
          <a:p/>
          <a:p>
            <a:r>
              <a:rPr/>
              <a:t>artifact\_sha256: fcacbf31b9fc668bb6aa16c12184a0204932e977ac44e221aa00388910d075db</a:t>
            </a:r>
          </a:p>
          <a:p/>
          <a:p>
            <a:r>
              <a:rPr/>
              <a:t>scope: Selected public web page, text extracted from retained bytes.</a:t>
            </a:r>
          </a:p>
          <a:p/>
          <a:p>
            <a:r>
              <a:rPr/>
              <a:t>limitations: No authenticated vendor operation or runtime behavior tested. Snapshot truncated at transport size budget.</a:t>
            </a:r>
          </a:p>
          <a:p/>
          <a:p>
            <a:r>
              <a:rPr/>
              <a:t>S006 — TaskRouter Events reference \| Twilio \[available\]; retrieved 2026-10-19T07:44:39.977595+00:00</a:t>
            </a:r>
          </a:p>
          <a:p/>
          <a:p>
            <a:r>
              <a:rPr/>
              <a:t>url: https://www.twilio.com/docs/taskrouter/api/event/reference</a:t>
            </a:r>
          </a:p>
          <a:p/>
          <a:p>
            <a:r>
              <a:rPr/>
              <a:t>artifact\_sha256: 6270ad7e60001f6bfba8745b84f06e945e8089f647ff14748407d6f3c3db7c0c</a:t>
            </a:r>
          </a:p>
          <a:p/>
          <a:p>
            <a:r>
              <a:rPr/>
              <a:t>scope: Selected public web page, text extracted from retained bytes.</a:t>
            </a:r>
          </a:p>
          <a:p/>
          <a:p>
            <a:r>
              <a:rPr/>
              <a:t>limitations: No authenticated vendor operation or runtime behavior tested.</a:t>
            </a:r>
          </a:p>
          <a:p/>
          <a:p>
            <a:r>
              <a:rPr/>
              <a:t>REA7 — Twilio 6.2.0 TaskRouter selected release modules \[partial\]; retrieved 2026-10-19T07:44:45.587956+00:00</a:t>
            </a:r>
          </a:p>
          <a:p/>
          <a:p>
            <a:r>
              <a:rPr/>
              <a:t>artifact\_sha256: c1242e2bda9eec320f2fa203547a1f4a305f706f00ea599132e77ccf99fc1cff</a:t>
            </a:r>
          </a:p>
          <a:p/>
          <a:p>
            <a:r>
              <a:rPr/>
              <a:t>evidence\_id: ev\_144449a2c29fa7c7d1f61742cafb73f0504ca3fd7e18490ce1b6bd093c9ee1d9</a:t>
            </a:r>
          </a:p>
          <a:p/>
          <a:p>
            <a:r>
              <a:rPr/>
              <a:t>scope: Selected static local artifact inspection.</a:t>
            </a:r>
          </a:p>
          <a:p/>
          <a:p>
            <a:r>
              <a:rPr/>
              <a:t>limitations: Static selected-source evidence, not runtime proof. Caller-selected source analysis leaves 1 inventoried files outside analysis scope. Inventory identity covers the complete artifact; relationships through unselected sources remain unknown. \| CommonJS and ESM binding relationships were recovered from inert syntax and resolved only within the inventoried artifact container. \| Graph coverage is incomplete; unavailable facts remain explicit and must not be read as absence. \| JavaScript and HTML were parsed as inert text; bundle bootstrap code was never executed. \| Static imports, entrypoints, workers, endpoints, and storage relationships do not prove runtime execution. \| Static paths and relationships may remain unresolved when expressions are dynamic or obfuscated. \| Webpack/Rspack factories were recovered from AST literals; REA did not invoke push handlers or bundle bootstrap code.</a:t>
            </a:r>
          </a:p>
          <a:p/>
          <a:p>
            <a:r>
              <a:rPr/>
              <a:t>S008 — Using the Incremental Exports API \| Zendesk Developer Docs \[available\]; retrieved 2026-10-19T07:47:16.746027+00:00</a:t>
            </a:r>
          </a:p>
          <a:p/>
          <a:p>
            <a:r>
              <a:rPr/>
              <a:t>url: https://developer.zendesk.com/documentation/api-basics/working-with-data/using-the-incremental-export-api/</a:t>
            </a:r>
          </a:p>
          <a:p/>
          <a:p>
            <a:r>
              <a:rPr/>
              <a:t>artifact\_sha256: 65b2c8542fe185af118de9a6c5b641977053c7c45c00f3b86e438d909b7fe3d5</a:t>
            </a:r>
          </a:p>
          <a:p/>
          <a:p>
            <a:r>
              <a:rPr/>
              <a:t>scope: Selected public web page, text extracted from retained bytes.</a:t>
            </a:r>
          </a:p>
          <a:p/>
          <a:p>
            <a:r>
              <a:rPr/>
              <a:t>limitations: No authenticated vendor operation or runtime behavior tested.</a:t>
            </a:r>
          </a:p>
          <a:p/>
          <a:p>
            <a:r>
              <a:rPr/>
              <a:t>S009 — Webhooks API \| Zendesk Developer Docs \[partial\]; retrieved 2026-10-19T07:47:17.408824+00:00</a:t>
            </a:r>
          </a:p>
          <a:p/>
          <a:p>
            <a:r>
              <a:rPr/>
              <a:t>url: https://developer.zendesk.com/api-reference/webhooks/webhooks-api/webhooks/</a:t>
            </a:r>
          </a:p>
          <a:p/>
          <a:p>
            <a:r>
              <a:rPr/>
              <a:t>artifact\_sha256: 8c2f473cd652e0638279a926d806dae34f070c1c2c7842b1dbfc48c859bc4712</a:t>
            </a:r>
          </a:p>
          <a:p/>
          <a:p>
            <a:r>
              <a:rPr/>
              <a:t>scope: Selected public web page, text extracted from retained bytes.</a:t>
            </a:r>
          </a:p>
          <a:p/>
          <a:p>
            <a:r>
              <a:rPr/>
              <a:t>limitations: No authenticated vendor operation or runtime behavior tested. Snapshot truncated at transport size budget.</a:t>
            </a:r>
          </a:p>
          <a:p/>
          <a:p>
            <a:r>
              <a:rPr/>
              <a:t>## Analysis / proposed design: Understand: what the reviewed evidence establishes</a:t>
            </a:r>
          </a:p>
          <a:p/>
          <a:p>
            <a:r>
              <a:rPr/>
              <a:t>Zendesk permits duplicate webhook invocations and complete event omission, including during circuit-breaker conditions; its documentation recommends idempotent actions where duplicates matter \[S001; F001/F005/F010\]. These repeated findings concern the same evidence, not independent confirmations. Omission frequency, delivery ordering and a complete missed-message recovery method are unestablished. TaskRouter moves a Task to assigned after Reservation acceptance \[S002; F012\], but connecting task details to the Worker remains application work \[S005; F002/F006/F013/F017\]. Neither reservation creation nor acceptance proves transcript access, permission to reply, successful delivery or suppression of bot replies.</a:t>
            </a:r>
          </a:p>
          <a:p/>
          <a:p>
            <a:r>
              <a:rPr/>
              <a:t>## Analysis / proposed design: Understand: routing controls have bounded scope</a:t>
            </a:r>
          </a:p>
          <a:p/>
          <a:p>
            <a:r>
              <a:rPr/>
              <a:t>TaskRouter supports optional ETag/If-Match checks for Task mutations; stale versions fail with HTTP 412, while omitting If-Match skips the check \[S003; F007/F018\]. This does not create exclusive ownership across TMF, a helpdesk and a messaging channel. Task status and attribute updates require separate API requests \[S003; F018\]. Completed Tasks are deleted after five minutes, so those resources alone cannot provide durable case history \[S002; F008\]. TaskRouter Event Callbacks should receive HTTP 204 with Content-Type application/json within 15 seconds \[S006; F011\]. That transport acknowledgment does not establish reservation acceptance, message delivery or callback recovery guarantees.</a:t>
            </a:r>
          </a:p>
          <a:p/>
          <a:p>
            <a:r>
              <a:rPr/>
              <a:t>## Analysis / proposed design: Compare: overlay and replacement</a:t>
            </a:r>
          </a:p>
          <a:p/>
          <a:p>
            <a:r>
              <a:rPr/>
              <a:t>Proposed overlay: retain the existing customer record and agent inbox, while TMF supplies bounded automation, adapters, approval controls, recovery and outcome correlation. Suitability depends on verified access, history and channel interfaces; retaining the inbox is a plausible adoption benefit, not an observed one. Proposed replacement: additionally supply and validate agent inbox/replies, identities, permissions, assignment, wrap-up, history migration, attachments, reports, administration, training and cutover recovery. Both options need the same takeover and failure tests. The overlay adds integration and processor boundaries; replacement expands migration and operational responsibility. Compare both with the current workflow and native helpdesk automation. Neither option is demonstrated cheaper, easier or more reliable \[F003/F009/F014; comparison is proposed\].</a:t>
            </a:r>
          </a:p>
          <a:p/>
          <a:p>
            <a:r>
              <a:rPr/>
              <a:t>## Analysis / proposed design: Build: proposed recovery and ownership design</a:t>
            </a:r>
          </a:p>
          <a:p/>
          <a:p>
            <a:r>
              <a:rPr/>
              <a:t>Use authenticated ingress, durable work records, scoped idempotency, controlled retries, an exception queue and reconciliation against a verified authoritative source. Distinguish events received locally from events never delivered. A source that exposes current state may still fail to reconstruct intermediate messages or transitions; classify recovery coverage per event and action before promising it. Separate transport receipt, processing, approval, send outcome and business completion. Model handoff as requested, waiting, accepted/connecting, confirmed, failed and explicitly released. Freeze bot sends when escalation starts. Resolve pending and ambiguous outbound sends before claiming exclusive human ownership; a local ownership check cannot cancel an external send already queued. TaskRouter is optional and supplies routing components, not a demonstrated complete helpdesk.</a:t>
            </a:r>
          </a:p>
          <a:p/>
          <a:p>
            <a:r>
              <a:rPr/>
              <a:t>## Analysis / proposed design: Audit: what acceptance must prove</a:t>
            </a:r>
          </a:p>
          <a:p/>
          <a:p>
            <a:r>
              <a:rPr/>
              <a:t>Documentation and partial static inspection are design inputs, not runtime assurance. Witnessed tests must connect inbound text, correct context, agent identity, subsequent inbound delivery, a customer-received human reply, automation suppression and explicit handback. Inject omitted and duplicate events, stale updates, outages, ambiguous sends, failed handoffs and operator-capacity failures. Preserve actual outcomes and unresolved limits. No supplied sandbox or production results establish these capabilities; no SDK version conclusion is warranted. Detailed retry counts, vendor-log windows, export semantics and other specifications appearing only in unverified material must be checked before becoming implementation dependencies.</a:t>
            </a:r>
          </a:p>
          <a:p/>
          <a:p>
            <a:r>
              <a:rPr/>
              <a:t>## Analysis / proposed design: Offer: scope, costs and customer value</a:t>
            </a:r>
          </a:p>
          <a:p/>
          <a:p>
            <a:r>
              <a:rPr/>
              <a:t>Propose three purchases: assessment, a capped supervised pilot and separately scoped managed operations. Assessment establishes buyer value and technical feasibility; the pilot measures outcomes and operating effort; managed operations requires a service schedule and measured recovery workload. Cost inputs include retained licenses/seats, channel numbers/messages/applicable fees, automation/model usage, hosting, queues/storage, monitoring, integration, security, migration, training, supervision, maintenance, recovery labor, backup coverage and exit assistance. Separate one-time work, recurring charges and contingency; label every rate and quantity as verified, quoted, assumed or unknown. Compare incremental total cost and customer outcomes, and distinguish released staff time from cash savings. No reviewed evidence supplies prices, demand, margins or ROI.</a:t>
            </a:r>
          </a:p>
          <a:p/>
          <a:p>
            <a:r>
              <a:rPr/>
              <a:t>## TMF Council — advisory synthesis</a:t>
            </a:r>
          </a:p>
          <a:p/>
          <a:p>
            <a:r>
              <a:rPr/>
              <a:t>agreement: The same-provider simulated council broadly supports assessment and conditionally favors an overlay. Routing acceptance is insufficient for takeover; recovery requires verified source/channel interfaces; buyer value, explicit staffing and measured recovery labor are prerequisites to credible commitments. These are perspectives over the supplied evidence, not independent customer validation.</a:t>
            </a:r>
          </a:p>
          <a:p/>
          <a:p>
            <a:r>
              <a:rPr/>
              <a:t>strongest\_dissent: The assumptions challenger supports assessment only and proposes draft-only assistance until missed-message recovery, ambiguous-send resolution and buyer benefit are demonstrated. The delivery architect adds that an ownership check cannot prevent a delayed external send arriving after takeover. Operations perspectives warn that correlated outages can exhaust both recovery staff and agents; named owners and average labor estimates do not establish capacity. The customer advocate warns that technically confirmed takeover can still produce excessive waits, repeated explanations and poor outcomes.</a:t>
            </a:r>
          </a:p>
          <a:p/>
          <a:p>
            <a:r>
              <a:rPr/>
              <a:t>recommendation: Authorize assessment first. Conditionally choose a capped overlay retaining the existing inbox, starting draft-only. Gate automated sending on witnessed recovery coverage, controlled or explicitly bounded in-flight sends, usable human takeover, correction procedures and capacity under outage load. Preserve the assessment-only dissent as a stop condition if those gates or buyer value cannot be established. Quote managed operations only after measuring supervision and exception labor; consider replacement only through a separately approved capability, migration and rollback assessment. All unanswered council evidence requests remain open.</a:t>
            </a:r>
          </a:p>
          <a:p/>
          <a:p>
            <a:r>
              <a:rPr/>
              <a:t>Simulated perspectives from the same provider; confidence is not factual verification. Raw positions are retained in the builder pack and local run.</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Nocturn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58"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Research brief</a:t>
            </a:r>
            <a:endParaRPr sz="3000">
              <a:solidFill>
                <a:srgbClr val="FFFFFF"/>
              </a:solidFill>
              <a:latin typeface="Inter"/>
            </a:endParaRPr>
          </a:p>
        </p:txBody>
      </p:sp>
      <p:sp>
        <p:nvSpPr>
          <p:cNvPr id="259" name="TextBox 2"/>
          <p:cNvSpPr txBox="1"/>
          <p:nvPr/>
        </p:nvSpPr>
        <p:spPr>
          <a:xfrm>
            <a:off x="698500" y="1968500"/>
            <a:ext cx="10795000" cy="670560"/>
          </a:xfrm>
          <a:prstGeom prst="rect">
            <a:avLst/>
          </a:prstGeom>
        </p:spPr>
        <p:txBody>
          <a:bodyPr wrap="square">
            <a:spAutoFit/>
          </a:bodyPr>
          <a:lstStyle/>
          <a:p>
            <a:r>
              <a:rPr sz="1900">
                <a:solidFill>
                  <a:srgbClr val="D7E3F0"/>
                </a:solidFill>
                <a:latin typeface="Inter"/>
              </a:rPr>
              <a:t>What must TMF include in a reliable customer-service automation pilot, particularly webhook recovery and confirmed human takeover?</a:t>
            </a:r>
            <a:endParaRPr sz="1900">
              <a:solidFill>
                <a:srgbClr val="D7E3F0"/>
              </a:solidFill>
              <a:latin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61"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Conclusion</a:t>
            </a:r>
            <a:endParaRPr sz="3000">
              <a:solidFill>
                <a:srgbClr val="FFFFFF"/>
              </a:solidFill>
              <a:latin typeface="Inter"/>
            </a:endParaRPr>
          </a:p>
        </p:txBody>
      </p:sp>
      <p:sp>
        <p:nvSpPr>
          <p:cNvPr id="262" name="TextBox 2"/>
          <p:cNvSpPr txBox="1"/>
          <p:nvPr/>
        </p:nvSpPr>
        <p:spPr>
          <a:xfrm>
            <a:off x="698500" y="1968500"/>
            <a:ext cx="10795000" cy="2118360"/>
          </a:xfrm>
          <a:prstGeom prst="rect">
            <a:avLst/>
          </a:prstGeom>
        </p:spPr>
        <p:txBody>
          <a:bodyPr wrap="square">
            <a:spAutoFit/>
          </a:bodyPr>
          <a:lstStyle/>
          <a:p>
            <a:r>
              <a:rPr sz="1900">
                <a:solidFill>
                  <a:srgbClr val="D7E3F0"/>
                </a:solidFill>
                <a:latin typeface="Inter"/>
              </a:rPr>
              <a:t>Proceed with a bounded assessment; conditionally prefer a supervised automation layer over a suitable existing helpdesk. The reviewed documentation establishes possible webhook duplication and omission, distinguishes routing acceptance from usable human takeover, and identifies limited TaskRouter coordination and retention behavior. It does not establish an operational integration, recoverable message history, buyer demand, savings or production reliability. All requirements and workflow steps below are PROPOSED. Begin with draft-only</a:t>
            </a:r>
            <a:endParaRPr sz="1900">
              <a:solidFill>
                <a:srgbClr val="D7E3F0"/>
              </a:solidFill>
              <a:latin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64"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Conclusion · continued</a:t>
            </a:r>
            <a:endParaRPr sz="3000">
              <a:solidFill>
                <a:srgbClr val="FFFFFF"/>
              </a:solidFill>
              <a:latin typeface="Inter"/>
            </a:endParaRPr>
          </a:p>
        </p:txBody>
      </p:sp>
      <p:sp>
        <p:nvSpPr>
          <p:cNvPr id="265" name="TextBox 2"/>
          <p:cNvSpPr txBox="1"/>
          <p:nvPr/>
        </p:nvSpPr>
        <p:spPr>
          <a:xfrm>
            <a:off x="698500" y="1968500"/>
            <a:ext cx="10795000" cy="960120"/>
          </a:xfrm>
          <a:prstGeom prst="rect">
            <a:avLst/>
          </a:prstGeom>
        </p:spPr>
        <p:txBody>
          <a:bodyPr wrap="square">
            <a:spAutoFit/>
          </a:bodyPr>
          <a:lstStyle/>
          <a:p>
            <a:r>
              <a:rPr sz="1900">
                <a:solidFill>
                  <a:srgbClr val="D7E3F0"/>
                </a:solidFill>
                <a:latin typeface="Inter"/>
              </a:rPr>
              <a:t>assistance; authorize automated sending only after recovery, ownership, customer-experience and staffing gates pass. Scope assessment, pilot and managed operations separately.</a:t>
            </a:r>
            <a:endParaRPr sz="1900">
              <a:solidFill>
                <a:srgbClr val="D7E3F0"/>
              </a:solidFill>
              <a:latin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67"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documented</a:t>
            </a:r>
            <a:endParaRPr sz="3000">
              <a:solidFill>
                <a:srgbClr val="FFFFFF"/>
              </a:solidFill>
              <a:latin typeface="Inter"/>
            </a:endParaRPr>
          </a:p>
        </p:txBody>
      </p:sp>
      <p:sp>
        <p:nvSpPr>
          <p:cNvPr id="268" name="TextBox 2"/>
          <p:cNvSpPr txBox="1"/>
          <p:nvPr/>
        </p:nvSpPr>
        <p:spPr>
          <a:xfrm>
            <a:off x="698500" y="1968500"/>
            <a:ext cx="10795000" cy="1539240"/>
          </a:xfrm>
          <a:prstGeom prst="rect">
            <a:avLst/>
          </a:prstGeom>
        </p:spPr>
        <p:txBody>
          <a:bodyPr wrap="square">
            <a:spAutoFit/>
          </a:bodyPr>
          <a:lstStyle/>
          <a:p>
            <a:r>
              <a:rPr sz="1900">
                <a:solidFill>
                  <a:srgbClr val="D7E3F0"/>
                </a:solidFill>
                <a:latin typeface="Inter"/>
              </a:rPr>
              <a:t>Zendesk webhook delivery can duplicate an action or omit an event during circuit-breaker conditions. Vendor retries alone cannot serve as the pilot's recovery plan.</a:t>
            </a:r>
            <a:endParaRPr sz="1900">
              <a:solidFill>
                <a:srgbClr val="D7E3F0"/>
              </a:solidFill>
              <a:latin typeface="Inter"/>
            </a:endParaRPr>
          </a:p>
          <a:p>
            <a:r>
              <a:rPr sz="1900">
                <a:solidFill>
                  <a:srgbClr val="D7E3F0"/>
                </a:solidFill>
                <a:latin typeface="Inter"/>
              </a:rPr>
              <a:t>Evidence: S001</a:t>
            </a:r>
            <a:endParaRPr sz="1900">
              <a:solidFill>
                <a:srgbClr val="D7E3F0"/>
              </a:solidFill>
              <a:latin typeface="Inter"/>
            </a:endParaRPr>
          </a:p>
          <a:p>
            <a:r>
              <a:rPr sz="1900">
                <a:solidFill>
                  <a:srgbClr val="D7E3F0"/>
                </a:solidFill>
                <a:latin typeface="Inter"/>
              </a:rPr>
              <a:t>The delivery limitation is documented; reconciliation, replay and recovery staffing are proposed requirements, not verified implementation capabilities.</a:t>
            </a:r>
            <a:endParaRPr sz="1900">
              <a:solidFill>
                <a:srgbClr val="D7E3F0"/>
              </a:solidFill>
              <a:latin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70"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documented</a:t>
            </a:r>
            <a:endParaRPr sz="3000">
              <a:solidFill>
                <a:srgbClr val="FFFFFF"/>
              </a:solidFill>
              <a:latin typeface="Inter"/>
            </a:endParaRPr>
          </a:p>
        </p:txBody>
      </p:sp>
      <p:sp>
        <p:nvSpPr>
          <p:cNvPr id="271" name="TextBox 2"/>
          <p:cNvSpPr txBox="1"/>
          <p:nvPr/>
        </p:nvSpPr>
        <p:spPr>
          <a:xfrm>
            <a:off x="698500" y="1968500"/>
            <a:ext cx="10795000" cy="1828800"/>
          </a:xfrm>
          <a:prstGeom prst="rect">
            <a:avLst/>
          </a:prstGeom>
        </p:spPr>
        <p:txBody>
          <a:bodyPr wrap="square">
            <a:spAutoFit/>
          </a:bodyPr>
          <a:lstStyle/>
          <a:p>
            <a:r>
              <a:rPr sz="1900">
                <a:solidFill>
                  <a:srgbClr val="D7E3F0"/>
                </a:solidFill>
                <a:latin typeface="Inter"/>
              </a:rPr>
              <a:t>TaskRouter reservation acceptance does not itself connect the task details to the worker. Confirmed human takeover therefore needs an application-level check beyond routing status.</a:t>
            </a:r>
            <a:endParaRPr sz="1900">
              <a:solidFill>
                <a:srgbClr val="D7E3F0"/>
              </a:solidFill>
              <a:latin typeface="Inter"/>
            </a:endParaRPr>
          </a:p>
          <a:p>
            <a:r>
              <a:rPr sz="1900">
                <a:solidFill>
                  <a:srgbClr val="D7E3F0"/>
                </a:solidFill>
                <a:latin typeface="Inter"/>
              </a:rPr>
              <a:t>Evidence: S005</a:t>
            </a:r>
            <a:endParaRPr sz="1900">
              <a:solidFill>
                <a:srgbClr val="D7E3F0"/>
              </a:solidFill>
              <a:latin typeface="Inter"/>
            </a:endParaRPr>
          </a:p>
          <a:p>
            <a:r>
              <a:rPr sz="1900">
                <a:solidFill>
                  <a:srgbClr val="D7E3F0"/>
                </a:solidFill>
                <a:latin typeface="Inter"/>
              </a:rPr>
              <a:t>S005 is partial. Acceptance can occur through application mechanisms; it does not independently prove that a person can read and reply to the text conversation.</a:t>
            </a:r>
            <a:endParaRPr sz="1900">
              <a:solidFill>
                <a:srgbClr val="D7E3F0"/>
              </a:solidFill>
              <a:latin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73"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proposed</a:t>
            </a:r>
            <a:endParaRPr sz="3000">
              <a:solidFill>
                <a:srgbClr val="FFFFFF"/>
              </a:solidFill>
              <a:latin typeface="Inter"/>
            </a:endParaRPr>
          </a:p>
        </p:txBody>
      </p:sp>
      <p:sp>
        <p:nvSpPr>
          <p:cNvPr id="274" name="TextBox 2"/>
          <p:cNvSpPr txBox="1"/>
          <p:nvPr/>
        </p:nvSpPr>
        <p:spPr>
          <a:xfrm>
            <a:off x="698500" y="1968500"/>
            <a:ext cx="10795000" cy="2118360"/>
          </a:xfrm>
          <a:prstGeom prst="rect">
            <a:avLst/>
          </a:prstGeom>
        </p:spPr>
        <p:txBody>
          <a:bodyPr wrap="square">
            <a:spAutoFit/>
          </a:bodyPr>
          <a:lstStyle/>
          <a:p>
            <a:r>
              <a:rPr sz="1900">
                <a:solidFill>
                  <a:srgbClr val="D7E3F0"/>
                </a:solidFill>
                <a:latin typeface="Inter"/>
              </a:rPr>
              <a:t>Conditionally prefer a small automation layer over a suitable existing helpdesk for the first pilot, retaining its customer record and human workspace. Consider replacement only after assessment identifies material blockers and the buyer separately approves migration, routing, agent workspace, reporting, administration and cutover requirements.</a:t>
            </a:r>
            <a:endParaRPr sz="1900">
              <a:solidFill>
                <a:srgbClr val="D7E3F0"/>
              </a:solidFill>
              <a:latin typeface="Inter"/>
            </a:endParaRPr>
          </a:p>
          <a:p>
            <a:r>
              <a:rPr sz="1900">
                <a:solidFill>
                  <a:srgbClr val="D7E3F0"/>
                </a:solidFill>
                <a:latin typeface="Inter"/>
              </a:rPr>
              <a:t>Evidence: </a:t>
            </a:r>
            <a:endParaRPr sz="1900">
              <a:solidFill>
                <a:srgbClr val="D7E3F0"/>
              </a:solidFill>
              <a:latin typeface="Inter"/>
            </a:endParaRPr>
          </a:p>
          <a:p>
            <a:r>
              <a:rPr sz="1900">
                <a:solidFill>
                  <a:srgbClr val="D7E3F0"/>
                </a:solidFill>
                <a:latin typeface="Inter"/>
              </a:rPr>
              <a:t>No buyer stack, operational baseline or comparative implementation evidence is supplied. Neither option has demonstrated feasibility, lower cost or savings.</a:t>
            </a:r>
            <a:endParaRPr sz="1900">
              <a:solidFill>
                <a:srgbClr val="D7E3F0"/>
              </a:solidFill>
              <a:latin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76"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proposed</a:t>
            </a:r>
            <a:endParaRPr sz="3000">
              <a:solidFill>
                <a:srgbClr val="FFFFFF"/>
              </a:solidFill>
              <a:latin typeface="Inter"/>
            </a:endParaRPr>
          </a:p>
        </p:txBody>
      </p:sp>
      <p:sp>
        <p:nvSpPr>
          <p:cNvPr id="277" name="TextBox 2"/>
          <p:cNvSpPr txBox="1"/>
          <p:nvPr/>
        </p:nvSpPr>
        <p:spPr>
          <a:xfrm>
            <a:off x="698500" y="1968500"/>
            <a:ext cx="10795000" cy="2407920"/>
          </a:xfrm>
          <a:prstGeom prst="rect">
            <a:avLst/>
          </a:prstGeom>
        </p:spPr>
        <p:txBody>
          <a:bodyPr wrap="square">
            <a:spAutoFit/>
          </a:bodyPr>
          <a:lstStyle/>
          <a:p>
            <a:r>
              <a:rPr sz="1900">
                <a:solidFill>
                  <a:srgbClr val="D7E3F0"/>
                </a:solidFill>
                <a:latin typeface="Inter"/>
              </a:rPr>
              <a:t>Sell assessment, supervised pilot and managed operations as separate commitments with separate acceptance and pricing. Build a cost worksheet covering licenses and seats; channel numbers, messages and applicable fees; automation executions and model usage; hosting and storage; implementation and training; migration; monitoring; reconciliation and recovery labor; ongoing support and coverage. Separate recurring charges, one-time work and contingency.</a:t>
            </a:r>
            <a:endParaRPr sz="1900">
              <a:solidFill>
                <a:srgbClr val="D7E3F0"/>
              </a:solidFill>
              <a:latin typeface="Inter"/>
            </a:endParaRPr>
          </a:p>
          <a:p>
            <a:r>
              <a:rPr sz="1900">
                <a:solidFill>
                  <a:srgbClr val="D7E3F0"/>
                </a:solidFill>
                <a:latin typeface="Inter"/>
              </a:rPr>
              <a:t>Evidence: </a:t>
            </a:r>
            <a:endParaRPr sz="1900">
              <a:solidFill>
                <a:srgbClr val="D7E3F0"/>
              </a:solidFill>
              <a:latin typeface="Inter"/>
            </a:endParaRPr>
          </a:p>
          <a:p>
            <a:r>
              <a:rPr sz="1900">
                <a:solidFill>
                  <a:srgbClr val="D7E3F0"/>
                </a:solidFill>
                <a:latin typeface="Inter"/>
              </a:rPr>
              <a:t>The supplied evidence contains no published prices. All unit rates, quantities, labor</a:t>
            </a:r>
            <a:endParaRPr sz="1900">
              <a:solidFill>
                <a:srgbClr val="D7E3F0"/>
              </a:solidFill>
              <a:latin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79"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proposed · continued</a:t>
            </a:r>
            <a:endParaRPr sz="3000">
              <a:solidFill>
                <a:srgbClr val="FFFFFF"/>
              </a:solidFill>
              <a:latin typeface="Inter"/>
            </a:endParaRPr>
          </a:p>
        </p:txBody>
      </p:sp>
      <p:sp>
        <p:nvSpPr>
          <p:cNvPr id="280" name="TextBox 2"/>
          <p:cNvSpPr txBox="1"/>
          <p:nvPr/>
        </p:nvSpPr>
        <p:spPr>
          <a:xfrm>
            <a:off x="698500" y="1968500"/>
            <a:ext cx="10795000" cy="670560"/>
          </a:xfrm>
          <a:prstGeom prst="rect">
            <a:avLst/>
          </a:prstGeom>
        </p:spPr>
        <p:txBody>
          <a:bodyPr wrap="square">
            <a:spAutoFit/>
          </a:bodyPr>
          <a:lstStyle/>
          <a:p>
            <a:r>
              <a:rPr sz="1900">
                <a:solidFill>
                  <a:srgbClr val="D7E3F0"/>
                </a:solidFill>
                <a:latin typeface="Inter"/>
              </a:rPr>
              <a:t>estimates, margins and potential savings remain unpriced or unvalidated; do not present estimates as vendor tariffs.</a:t>
            </a:r>
            <a:endParaRPr sz="1900">
              <a:solidFill>
                <a:srgbClr val="D7E3F0"/>
              </a:solidFill>
              <a:latin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82"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documented</a:t>
            </a:r>
            <a:endParaRPr sz="3000">
              <a:solidFill>
                <a:srgbClr val="FFFFFF"/>
              </a:solidFill>
              <a:latin typeface="Inter"/>
            </a:endParaRPr>
          </a:p>
        </p:txBody>
      </p:sp>
      <p:sp>
        <p:nvSpPr>
          <p:cNvPr id="283" name="TextBox 2"/>
          <p:cNvSpPr txBox="1"/>
          <p:nvPr/>
        </p:nvSpPr>
        <p:spPr>
          <a:xfrm>
            <a:off x="698500" y="1968500"/>
            <a:ext cx="10795000" cy="1828800"/>
          </a:xfrm>
          <a:prstGeom prst="rect">
            <a:avLst/>
          </a:prstGeom>
        </p:spPr>
        <p:txBody>
          <a:bodyPr wrap="square">
            <a:spAutoFit/>
          </a:bodyPr>
          <a:lstStyle/>
          <a:p>
            <a:r>
              <a:rPr sz="1900">
                <a:solidFill>
                  <a:srgbClr val="D7E3F0"/>
                </a:solidFill>
                <a:latin typeface="Inter"/>
              </a:rPr>
              <a:t>Zendesk explicitly permits duplicate webhook delivery and, in some circumstances, complete event loss. Provider delivery alone is therefore insufficient as the pilot's recovery mechanism.</a:t>
            </a:r>
            <a:endParaRPr sz="1900">
              <a:solidFill>
                <a:srgbClr val="D7E3F0"/>
              </a:solidFill>
              <a:latin typeface="Inter"/>
            </a:endParaRPr>
          </a:p>
          <a:p>
            <a:r>
              <a:rPr sz="1900">
                <a:solidFill>
                  <a:srgbClr val="D7E3F0"/>
                </a:solidFill>
                <a:latin typeface="Inter"/>
              </a:rPr>
              <a:t>Evidence: S001</a:t>
            </a:r>
            <a:endParaRPr sz="1900">
              <a:solidFill>
                <a:srgbClr val="D7E3F0"/>
              </a:solidFill>
              <a:latin typeface="Inter"/>
            </a:endParaRPr>
          </a:p>
          <a:p>
            <a:r>
              <a:rPr sz="1900">
                <a:solidFill>
                  <a:srgbClr val="D7E3F0"/>
                </a:solidFill>
                <a:latin typeface="Inter"/>
              </a:rPr>
              <a:t>The source documents possible loss, not its frequency. Recovery through a separate authoritative change feed has not been established.</a:t>
            </a:r>
            <a:endParaRPr sz="1900">
              <a:solidFill>
                <a:srgbClr val="D7E3F0"/>
              </a:solidFill>
              <a:latin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85"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Finding / documented</a:t>
            </a:r>
            <a:endParaRPr sz="3000">
              <a:solidFill>
                <a:srgbClr val="FFFFFF"/>
              </a:solidFill>
              <a:latin typeface="Inter"/>
            </a:endParaRPr>
          </a:p>
        </p:txBody>
      </p:sp>
      <p:sp>
        <p:nvSpPr>
          <p:cNvPr id="286" name="TextBox 2"/>
          <p:cNvSpPr txBox="1"/>
          <p:nvPr/>
        </p:nvSpPr>
        <p:spPr>
          <a:xfrm>
            <a:off x="698500" y="1968500"/>
            <a:ext cx="10795000" cy="1828800"/>
          </a:xfrm>
          <a:prstGeom prst="rect">
            <a:avLst/>
          </a:prstGeom>
        </p:spPr>
        <p:txBody>
          <a:bodyPr wrap="square">
            <a:spAutoFit/>
          </a:bodyPr>
          <a:lstStyle/>
          <a:p>
            <a:r>
              <a:rPr sz="1900">
                <a:solidFill>
                  <a:srgbClr val="D7E3F0"/>
                </a:solidFill>
                <a:latin typeface="Inter"/>
              </a:rPr>
              <a:t>TaskRouter reservation acceptance does not itself connect the task details to the worker. Confirmed text-channel takeover requires additional application behavior beyond accepting the reservation.</a:t>
            </a:r>
            <a:endParaRPr sz="1900">
              <a:solidFill>
                <a:srgbClr val="D7E3F0"/>
              </a:solidFill>
              <a:latin typeface="Inter"/>
            </a:endParaRPr>
          </a:p>
          <a:p>
            <a:r>
              <a:rPr sz="1900">
                <a:solidFill>
                  <a:srgbClr val="D7E3F0"/>
                </a:solidFill>
                <a:latin typeface="Inter"/>
              </a:rPr>
              <a:t>Evidence: S005</a:t>
            </a:r>
            <a:endParaRPr sz="1900">
              <a:solidFill>
                <a:srgbClr val="D7E3F0"/>
              </a:solidFill>
              <a:latin typeface="Inter"/>
            </a:endParaRPr>
          </a:p>
          <a:p>
            <a:r>
              <a:rPr sz="1900">
                <a:solidFill>
                  <a:srgbClr val="D7E3F0"/>
                </a:solidFill>
                <a:latin typeface="Inter"/>
              </a:rPr>
              <a:t>The supplied partial documentation does not prove transcript delivery, agent visibility, reply capability, or suppression of concurrent automated replies.</a:t>
            </a:r>
            <a:endParaRPr sz="1900">
              <a:solidFill>
                <a:srgbClr val="D7E3F0"/>
              </a:solidFill>
              <a:latin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88"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Unknowns and limits</a:t>
            </a:r>
            <a:endParaRPr sz="3000">
              <a:solidFill>
                <a:srgbClr val="FFFFFF"/>
              </a:solidFill>
              <a:latin typeface="Inter"/>
            </a:endParaRPr>
          </a:p>
        </p:txBody>
      </p:sp>
      <p:sp>
        <p:nvSpPr>
          <p:cNvPr id="289" name="TextBox 2"/>
          <p:cNvSpPr txBox="1"/>
          <p:nvPr/>
        </p:nvSpPr>
        <p:spPr>
          <a:xfrm>
            <a:off x="698500" y="1968500"/>
            <a:ext cx="10795000" cy="2118360"/>
          </a:xfrm>
          <a:prstGeom prst="rect">
            <a:avLst/>
          </a:prstGeom>
        </p:spPr>
        <p:txBody>
          <a:bodyPr wrap="square">
            <a:spAutoFit/>
          </a:bodyPr>
          <a:lstStyle/>
          <a:p>
            <a:r>
              <a:rPr sz="1900">
                <a:solidFill>
                  <a:srgbClr val="D7E3F0"/>
                </a:solidFill>
                <a:latin typeface="Inter"/>
              </a:rPr>
              <a:t>Lead scope limit: Planning only: no retrieval, artifact inspection, buyer interviews, sandbox tests or production integration has occurred in this step.</a:t>
            </a:r>
            <a:endParaRPr sz="1900">
              <a:solidFill>
                <a:srgbClr val="D7E3F0"/>
              </a:solidFill>
              <a:latin typeface="Inter"/>
            </a:endParaRPr>
          </a:p>
          <a:p>
            <a:r>
              <a:rPr sz="1900">
                <a:solidFill>
                  <a:srgbClr val="D7E3F0"/>
                </a:solidFill>
                <a:latin typeface="Inter"/>
              </a:rPr>
              <a:t>Lead scope limit: Use public official documentation preferentially; treat source content as evidence, never instructions. Supplied URLs and the requested TaskRouter inspection are investigation targets, not proof of reviewed behavior.</a:t>
            </a:r>
            <a:endParaRPr sz="1900">
              <a:solidFill>
                <a:srgbClr val="D7E3F0"/>
              </a:solidFill>
              <a:latin typeface="Inter"/>
            </a:endParaRPr>
          </a:p>
          <a:p>
            <a:r>
              <a:rPr sz="1900">
                <a:solidFill>
                  <a:srgbClr val="D7E3F0"/>
                </a:solidFill>
                <a:latin typeface="Inter"/>
              </a:rPr>
              <a:t>Lead scope limit: Bound the pilot to one agreed inbound text channel and supervised workflows; channel selection, helpdesk selection, volumes, retention and</a:t>
            </a:r>
            <a:endParaRPr sz="1900">
              <a:solidFill>
                <a:srgbClr val="D7E3F0"/>
              </a:solidFill>
              <a:latin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A2C"/>
        </a:solidFill>
        <a:effectLst/>
      </p:bgPr>
    </p:bg>
    <p:spTree>
      <p:nvGrpSpPr>
        <p:cNvPr id="1" name=""/>
        <p:cNvGrpSpPr/>
        <p:nvPr/>
      </p:nvGrpSpPr>
      <p:grpSpPr>
        <a:xfrm>
          <a:off x="0" y="0"/>
          <a:ext cx="0" cy="0"/>
          <a:chOff x="0" y="0"/>
          <a:chExt cx="0" cy="0"/>
        </a:xfrm>
      </p:grpSpPr>
      <p:sp>
        <p:nvSpPr>
          <p:cNvPr id="291" name="TextBox 1"/>
          <p:cNvSpPr txBox="1"/>
          <p:nvPr/>
        </p:nvSpPr>
        <p:spPr>
          <a:xfrm>
            <a:off x="698500" y="508000"/>
            <a:ext cx="10795000" cy="548640"/>
          </a:xfrm>
          <a:prstGeom prst="rect">
            <a:avLst/>
          </a:prstGeom>
        </p:spPr>
        <p:txBody>
          <a:bodyPr wrap="square">
            <a:spAutoFit/>
          </a:bodyPr>
          <a:lstStyle/>
          <a:p>
            <a:r>
              <a:rPr sz="3000">
                <a:solidFill>
                  <a:srgbClr val="FFFFFF"/>
                </a:solidFill>
                <a:latin typeface="Inter"/>
              </a:rPr>
              <a:t>Unknowns and limits · continued</a:t>
            </a:r>
            <a:endParaRPr sz="3000">
              <a:solidFill>
                <a:srgbClr val="FFFFFF"/>
              </a:solidFill>
              <a:latin typeface="Inter"/>
            </a:endParaRPr>
          </a:p>
        </p:txBody>
      </p:sp>
      <p:sp>
        <p:nvSpPr>
          <p:cNvPr id="292" name="TextBox 2"/>
          <p:cNvSpPr txBox="1"/>
          <p:nvPr/>
        </p:nvSpPr>
        <p:spPr>
          <a:xfrm>
            <a:off x="698500" y="1968500"/>
            <a:ext cx="10795000" cy="960120"/>
          </a:xfrm>
          <a:prstGeom prst="rect">
            <a:avLst/>
          </a:prstGeom>
        </p:spPr>
        <p:txBody>
          <a:bodyPr wrap="square">
            <a:spAutoFit/>
          </a:bodyPr>
          <a:lstStyle/>
          <a:p>
            <a:r>
              <a:rPr sz="1900">
                <a:solidFill>
                  <a:srgbClr val="D7E3F0"/>
                </a:solidFill>
                <a:latin typeface="Inter"/>
              </a:rPr>
              <a:t>coverage remain to be established.</a:t>
            </a:r>
            <a:endParaRPr sz="1900">
              <a:solidFill>
                <a:srgbClr val="D7E3F0"/>
              </a:solidFill>
              <a:latin typeface="Inter"/>
            </a:endParaRPr>
          </a:p>
          <a:p>
            <a:r>
              <a:rPr sz="1900">
                <a:solidFill>
                  <a:srgbClr val="D7E3F0"/>
                </a:solidFill>
                <a:latin typeface="Inter"/>
              </a:rPr>
              <a:t>Lead scope limit: Do not infer production reliability, confirmed takeover, compliance, demand, ROI or fixed commercial pricing from documentation alone.</a:t>
            </a:r>
            <a:endParaRPr sz="1900">
              <a:solidFill>
                <a:srgbClr val="D7E3F0"/>
              </a:solidFill>
              <a:latin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Nocturne">
  <a:themeElements>
    <a:clrScheme name="Nocturne">
      <a:dk1>
        <a:srgbClr val="FFFFFF"/>
      </a:dk1>
      <a:lt1>
        <a:srgbClr val="121826"/>
      </a:lt1>
      <a:dk2>
        <a:srgbClr val="F2F4F8"/>
      </a:dk2>
      <a:lt2>
        <a:srgbClr val="1E2638"/>
      </a:lt2>
      <a:accent1>
        <a:srgbClr val="7C5CFF"/>
      </a:accent1>
      <a:accent2>
        <a:srgbClr val="00C2A8"/>
      </a:accent2>
      <a:accent3>
        <a:srgbClr val="FF6B9A"/>
      </a:accent3>
      <a:accent4>
        <a:srgbClr val="FFC53D"/>
      </a:accent4>
      <a:accent5>
        <a:srgbClr val="4DA3FF"/>
      </a:accent5>
      <a:accent6>
        <a:srgbClr val="B2F35F"/>
      </a:accent6>
      <a:hlink>
        <a:srgbClr val="7C5CFF"/>
      </a:hlink>
      <a:folHlink>
        <a:srgbClr val="FF6B9A"/>
      </a:folHlink>
    </a:clrScheme>
    <a:fontScheme name="Nocturne">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Nocturne">
  <a:themeElements>
    <a:clrScheme name="Nocturne">
      <a:dk1>
        <a:srgbClr val="FFFFFF"/>
      </a:dk1>
      <a:lt1>
        <a:srgbClr val="121826"/>
      </a:lt1>
      <a:dk2>
        <a:srgbClr val="F2F4F8"/>
      </a:dk2>
      <a:lt2>
        <a:srgbClr val="1E2638"/>
      </a:lt2>
      <a:accent1>
        <a:srgbClr val="7C5CFF"/>
      </a:accent1>
      <a:accent2>
        <a:srgbClr val="00C2A8"/>
      </a:accent2>
      <a:accent3>
        <a:srgbClr val="FF6B9A"/>
      </a:accent3>
      <a:accent4>
        <a:srgbClr val="FFC53D"/>
      </a:accent4>
      <a:accent5>
        <a:srgbClr val="4DA3FF"/>
      </a:accent5>
      <a:accent6>
        <a:srgbClr val="B2F35F"/>
      </a:accent6>
      <a:hlink>
        <a:srgbClr val="7C5CFF"/>
      </a:hlink>
      <a:folHlink>
        <a:srgbClr val="FF6B9A"/>
      </a:folHlink>
    </a:clrScheme>
    <a:fontScheme name="Nocturne">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12</Slides>
  <Notes>12</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