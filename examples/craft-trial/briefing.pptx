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heme" Target="theme/theme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9060" y="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857250" y="1143000"/>
            <a:ext cx="51435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846320"/>
            <a:ext cx="5486400" cy="3291840"/>
          </a:xfrm>
          <a:prstGeom prst="rect">
            <a:avLst/>
          </a:prstGeom>
        </p:spPr>
        <p:txBody>
          <a:bodyPr/>
          <a:lstStyle/>
          <a:p>
            <a:r>
              <a:rPr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9060" y="8686800"/>
            <a:ext cx="2948940" cy="457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  <a:lvl2pPr marL="457200" algn="l">
      <a:defRPr sz="1200">
        <a:solidFill>
          <a:schemeClr val="tx1"/>
        </a:solidFill>
        <a:latin typeface="+mn-lt"/>
      </a:defRPr>
    </a:lvl2pPr>
    <a:lvl3pPr marL="914400" algn="l">
      <a:defRPr sz="1200">
        <a:solidFill>
          <a:schemeClr val="tx1"/>
        </a:solidFill>
        <a:latin typeface="+mn-lt"/>
      </a:defRPr>
    </a:lvl3pPr>
    <a:lvl4pPr marL="1371600" algn="l">
      <a:defRPr sz="1200">
        <a:solidFill>
          <a:schemeClr val="tx1"/>
        </a:solidFill>
        <a:latin typeface="+mn-lt"/>
      </a:defRPr>
    </a:lvl4pPr>
    <a:lvl5pPr marL="1828800" algn="l">
      <a:defRPr sz="1200">
        <a:solidFill>
          <a:schemeClr val="tx1"/>
        </a:solidFill>
        <a:latin typeface="+mn-lt"/>
      </a:defRPr>
    </a:lvl5pPr>
    <a:lvl6pPr marL="2286000" algn="l">
      <a:defRPr sz="1200">
        <a:solidFill>
          <a:schemeClr val="tx1"/>
        </a:solidFill>
        <a:latin typeface="+mn-lt"/>
      </a:defRPr>
    </a:lvl6pPr>
    <a:lvl7pPr marL="2743200" algn="l">
      <a:defRPr sz="1200">
        <a:solidFill>
          <a:schemeClr val="tx1"/>
        </a:solidFill>
        <a:latin typeface="+mn-lt"/>
      </a:defRPr>
    </a:lvl7pPr>
    <a:lvl8pPr marL="3200400" algn="l">
      <a:defRPr sz="1200">
        <a:solidFill>
          <a:schemeClr val="tx1"/>
        </a:solidFill>
        <a:latin typeface="+mn-lt"/>
      </a:defRPr>
    </a:lvl8pPr>
    <a:lvl9pPr marL="3657600" algn="l">
      <a:defRPr sz="1200">
        <a:solidFill>
          <a:schemeClr val="tx1"/>
        </a:solidFill>
        <a:latin typeface="+mn-lt"/>
      </a:defRPr>
    </a:lvl9pPr>
  </p:notesStyle>
</p:notesMaster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Pilot artifacts generated; client acceptance pending.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 fontScale="100000"/>
          </a:bodyPr>
          <a:lstStyle>
            <a:lvl1pPr algn="ctr">
              <a:defRPr sz="6000"/>
            </a:lvl1pPr>
          </a:lstStyle>
          <a:p/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 algn="ctr">
              <a:buNone/>
              <a:defRPr sz="2400"/>
            </a:lvl1pPr>
          </a:lstStyle>
          <a:p/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/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/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/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/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 fontScale="100000"/>
          </a:bodyPr>
          <a:lstStyle>
            <a:lvl1pPr marL="0" indent="0">
              <a:buNone/>
              <a:defRPr sz="1600"/>
            </a:lvl1pPr>
          </a:lstStyle>
          <a:p/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/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/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 fontScale="100000"/>
          </a:bodyPr>
          <a:lstStyle/>
          <a:p/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octur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 fontScale="100000"/>
          </a:bodyPr>
          <a:lstStyle/>
          <a:p>
            <a:r>
              <a:rPr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 fontScale="100000"/>
          </a:bodyPr>
          <a:lstStyle/>
          <a:p>
            <a:r>
              <a:rPr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1"/>
          <p:cNvSpPr txBox="1"/>
          <p:nvPr/>
        </p:nvSpPr>
        <p:spPr>
          <a:xfrm>
            <a:off x="762000" y="279400"/>
            <a:ext cx="10160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8D6D0"/>
                </a:solidFill>
                <a:latin typeface="Inter"/>
              </a:rPr>
              <a:t>TMF / RESEARCH                                          01 / 06</a:t>
            </a:r>
            <a:endParaRPr sz="1300" b="1">
              <a:solidFill>
                <a:srgbClr val="58D6D0"/>
              </a:solidFill>
              <a:latin typeface="Inter"/>
            </a:endParaRPr>
          </a:p>
        </p:txBody>
      </p:sp>
      <p:sp>
        <p:nvSpPr>
          <p:cNvPr id="259" name="TextBox 2"/>
          <p:cNvSpPr txBox="1"/>
          <p:nvPr/>
        </p:nvSpPr>
        <p:spPr>
          <a:xfrm>
            <a:off x="762000" y="889000"/>
            <a:ext cx="10668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TMF Systems</a:t>
            </a:r>
            <a:endParaRPr sz="34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60" name="Rectangle 3"/>
          <p:cNvSpPr/>
          <p:nvPr/>
        </p:nvSpPr>
        <p:spPr>
          <a:xfrm>
            <a:off x="762000" y="1816100"/>
            <a:ext cx="1016000" cy="50800"/>
          </a:xfrm>
          <a:prstGeom prst="rect">
            <a:avLst/>
          </a:prstGeom>
          <a:solidFill>
            <a:srgbClr val="58D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1" name="TextBox 4"/>
          <p:cNvSpPr txBox="1"/>
          <p:nvPr/>
        </p:nvSpPr>
        <p:spPr>
          <a:xfrm>
            <a:off x="762000" y="2286000"/>
            <a:ext cx="10668000" cy="1143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D7E3F0"/>
                </a:solidFill>
                <a:latin typeface="Inter"/>
              </a:rPr>
              <a:t>Research to delivery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Premium business software, workflows and workspaces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Pilot briefing | Proposed service specification</a:t>
            </a:r>
            <a:endParaRPr sz="2300" b="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62" name="TextBox 5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8BF"/>
                </a:solidFill>
                <a:latin typeface="Inter"/>
              </a:rPr>
              <a:t>SERVICE READINESS PILOT  /  PROPOSED SCOPE</a:t>
            </a:r>
            <a:endParaRPr sz="1000" b="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Box 1"/>
          <p:cNvSpPr txBox="1"/>
          <p:nvPr/>
        </p:nvSpPr>
        <p:spPr>
          <a:xfrm>
            <a:off x="762000" y="279400"/>
            <a:ext cx="10160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8D6D0"/>
                </a:solidFill>
                <a:latin typeface="Inter"/>
              </a:rPr>
              <a:t>TMF / RESEARCH                                          02 / 06</a:t>
            </a:r>
            <a:endParaRPr sz="1300" b="1">
              <a:solidFill>
                <a:srgbClr val="58D6D0"/>
              </a:solidFill>
              <a:latin typeface="Inter"/>
            </a:endParaRPr>
          </a:p>
        </p:txBody>
      </p:sp>
      <p:sp>
        <p:nvSpPr>
          <p:cNvPr id="265" name="TextBox 2"/>
          <p:cNvSpPr txBox="1"/>
          <p:nvPr/>
        </p:nvSpPr>
        <p:spPr>
          <a:xfrm>
            <a:off x="762000" y="889000"/>
            <a:ext cx="10668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Six priority service families</a:t>
            </a:r>
            <a:endParaRPr sz="34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66" name="Rectangle 3"/>
          <p:cNvSpPr/>
          <p:nvPr/>
        </p:nvSpPr>
        <p:spPr>
          <a:xfrm>
            <a:off x="762000" y="1816100"/>
            <a:ext cx="1016000" cy="50800"/>
          </a:xfrm>
          <a:prstGeom prst="rect">
            <a:avLst/>
          </a:prstGeom>
          <a:solidFill>
            <a:srgbClr val="58D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67" name="TextBox 4"/>
          <p:cNvSpPr txBox="1"/>
          <p:nvPr/>
        </p:nvSpPr>
        <p:spPr>
          <a:xfrm>
            <a:off x="762000" y="2286000"/>
            <a:ext cx="10668000" cy="2194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D7E3F0"/>
                </a:solidFill>
                <a:latin typeface="Inter"/>
              </a:rPr>
              <a:t>Systems assessment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Workflow integration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Customer service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Revenue operations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Ecommerce operations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Payroll operations</a:t>
            </a:r>
            <a:endParaRPr sz="2300" b="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68" name="TextBox 5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8BF"/>
                </a:solidFill>
                <a:latin typeface="Inter"/>
              </a:rPr>
              <a:t>SERVICE READINESS PILOT  /  PROPOSED SCOPE</a:t>
            </a:r>
            <a:endParaRPr sz="1000" b="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1"/>
          <p:cNvSpPr txBox="1"/>
          <p:nvPr/>
        </p:nvSpPr>
        <p:spPr>
          <a:xfrm>
            <a:off x="762000" y="279400"/>
            <a:ext cx="10160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8D6D0"/>
                </a:solidFill>
                <a:latin typeface="Inter"/>
              </a:rPr>
              <a:t>TMF / RESEARCH                                          03 / 06</a:t>
            </a:r>
            <a:endParaRPr sz="1300" b="1">
              <a:solidFill>
                <a:srgbClr val="58D6D0"/>
              </a:solidFill>
              <a:latin typeface="Inter"/>
            </a:endParaRPr>
          </a:p>
        </p:txBody>
      </p:sp>
      <p:sp>
        <p:nvSpPr>
          <p:cNvPr id="271" name="TextBox 2"/>
          <p:cNvSpPr txBox="1"/>
          <p:nvPr/>
        </p:nvSpPr>
        <p:spPr>
          <a:xfrm>
            <a:off x="762000" y="889000"/>
            <a:ext cx="10668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What makes a deliverable professional</a:t>
            </a:r>
            <a:endParaRPr sz="34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72" name="Rectangle 3"/>
          <p:cNvSpPr/>
          <p:nvPr/>
        </p:nvSpPr>
        <p:spPr>
          <a:xfrm>
            <a:off x="762000" y="1816100"/>
            <a:ext cx="1016000" cy="50800"/>
          </a:xfrm>
          <a:prstGeom prst="rect">
            <a:avLst/>
          </a:prstGeom>
          <a:solidFill>
            <a:srgbClr val="58D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3" name="TextBox 4"/>
          <p:cNvSpPr txBox="1"/>
          <p:nvPr/>
        </p:nvSpPr>
        <p:spPr>
          <a:xfrm>
            <a:off x="762000" y="2286000"/>
            <a:ext cx="10668000" cy="1844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D7E3F0"/>
                </a:solidFill>
                <a:latin typeface="Inter"/>
              </a:rPr>
              <a:t>Explicit scope and ownership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Source-linked requirements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Failure and recovery paths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Real acceptance evidence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Support and exit arrangements</a:t>
            </a:r>
            <a:endParaRPr sz="2300" b="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74" name="TextBox 5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8BF"/>
                </a:solidFill>
                <a:latin typeface="Inter"/>
              </a:rPr>
              <a:t>SERVICE READINESS PILOT  /  PROPOSED SCOPE</a:t>
            </a:r>
            <a:endParaRPr sz="1000" b="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1"/>
          <p:cNvSpPr txBox="1"/>
          <p:nvPr/>
        </p:nvSpPr>
        <p:spPr>
          <a:xfrm>
            <a:off x="762000" y="279400"/>
            <a:ext cx="10160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8D6D0"/>
                </a:solidFill>
                <a:latin typeface="Inter"/>
              </a:rPr>
              <a:t>TMF / RESEARCH                                          04 / 06</a:t>
            </a:r>
            <a:endParaRPr sz="1300" b="1">
              <a:solidFill>
                <a:srgbClr val="58D6D0"/>
              </a:solidFill>
              <a:latin typeface="Inter"/>
            </a:endParaRPr>
          </a:p>
        </p:txBody>
      </p:sp>
      <p:sp>
        <p:nvSpPr>
          <p:cNvPr id="277" name="TextBox 2"/>
          <p:cNvSpPr txBox="1"/>
          <p:nvPr/>
        </p:nvSpPr>
        <p:spPr>
          <a:xfrm>
            <a:off x="762000" y="889000"/>
            <a:ext cx="10668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Research before implementation</a:t>
            </a:r>
            <a:endParaRPr sz="34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78" name="Rectangle 3"/>
          <p:cNvSpPr/>
          <p:nvPr/>
        </p:nvSpPr>
        <p:spPr>
          <a:xfrm>
            <a:off x="762000" y="1816100"/>
            <a:ext cx="1016000" cy="50800"/>
          </a:xfrm>
          <a:prstGeom prst="rect">
            <a:avLst/>
          </a:prstGeom>
          <a:solidFill>
            <a:srgbClr val="58D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79" name="TextBox 4"/>
          <p:cNvSpPr txBox="1"/>
          <p:nvPr/>
        </p:nvSpPr>
        <p:spPr>
          <a:xfrm>
            <a:off x="762000" y="2286000"/>
            <a:ext cx="10668000" cy="1493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D7E3F0"/>
                </a:solidFill>
                <a:latin typeface="Inter"/>
              </a:rPr>
              <a:t>Research lead coordinates bounded investigation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Web, documents and REA supply evidence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Review checks support, conflicts and gaps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One record feeds report, workbook and briefing</a:t>
            </a:r>
            <a:endParaRPr sz="2300" b="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80" name="TextBox 5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8BF"/>
                </a:solidFill>
                <a:latin typeface="Inter"/>
              </a:rPr>
              <a:t>SERVICE READINESS PILOT  /  PROPOSED SCOPE</a:t>
            </a:r>
            <a:endParaRPr sz="1000" b="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Box 1"/>
          <p:cNvSpPr txBox="1"/>
          <p:nvPr/>
        </p:nvSpPr>
        <p:spPr>
          <a:xfrm>
            <a:off x="762000" y="279400"/>
            <a:ext cx="10160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8D6D0"/>
                </a:solidFill>
                <a:latin typeface="Inter"/>
              </a:rPr>
              <a:t>TMF / RESEARCH                                          05 / 06</a:t>
            </a:r>
            <a:endParaRPr sz="1300" b="1">
              <a:solidFill>
                <a:srgbClr val="58D6D0"/>
              </a:solidFill>
              <a:latin typeface="Inter"/>
            </a:endParaRPr>
          </a:p>
        </p:txBody>
      </p:sp>
      <p:sp>
        <p:nvSpPr>
          <p:cNvPr id="283" name="TextBox 2"/>
          <p:cNvSpPr txBox="1"/>
          <p:nvPr/>
        </p:nvSpPr>
        <p:spPr>
          <a:xfrm>
            <a:off x="762000" y="889000"/>
            <a:ext cx="10668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Evidence and decisions still needed</a:t>
            </a:r>
            <a:endParaRPr sz="34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84" name="Rectangle 3"/>
          <p:cNvSpPr/>
          <p:nvPr/>
        </p:nvSpPr>
        <p:spPr>
          <a:xfrm>
            <a:off x="762000" y="1816100"/>
            <a:ext cx="1016000" cy="50800"/>
          </a:xfrm>
          <a:prstGeom prst="rect">
            <a:avLst/>
          </a:prstGeom>
          <a:solidFill>
            <a:srgbClr val="58D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85" name="TextBox 4"/>
          <p:cNvSpPr txBox="1"/>
          <p:nvPr/>
        </p:nvSpPr>
        <p:spPr>
          <a:xfrm>
            <a:off x="762000" y="2286000"/>
            <a:ext cx="10668000" cy="1493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D7E3F0"/>
                </a:solidFill>
                <a:latin typeface="Inter"/>
              </a:rPr>
              <a:t>Client, jurisdiction and operating volumes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Provider access and authoritative records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Costs, support coverage and specialist review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No offer is declared client-accepted here</a:t>
            </a:r>
            <a:endParaRPr sz="2300" b="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86" name="TextBox 5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8BF"/>
                </a:solidFill>
                <a:latin typeface="Inter"/>
              </a:rPr>
              <a:t>SERVICE READINESS PILOT  /  PROPOSED SCOPE</a:t>
            </a:r>
            <a:endParaRPr sz="1000" b="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1"/>
          <p:cNvSpPr txBox="1"/>
          <p:nvPr/>
        </p:nvSpPr>
        <p:spPr>
          <a:xfrm>
            <a:off x="762000" y="279400"/>
            <a:ext cx="10160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8D6D0"/>
                </a:solidFill>
                <a:latin typeface="Inter"/>
              </a:rPr>
              <a:t>TMF / RESEARCH                                          06 / 06</a:t>
            </a:r>
            <a:endParaRPr sz="1300" b="1">
              <a:solidFill>
                <a:srgbClr val="58D6D0"/>
              </a:solidFill>
              <a:latin typeface="Inter"/>
            </a:endParaRPr>
          </a:p>
        </p:txBody>
      </p:sp>
      <p:sp>
        <p:nvSpPr>
          <p:cNvPr id="289" name="TextBox 2"/>
          <p:cNvSpPr txBox="1"/>
          <p:nvPr/>
        </p:nvSpPr>
        <p:spPr>
          <a:xfrm>
            <a:off x="762000" y="889000"/>
            <a:ext cx="10668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Inter"/>
              </a:rPr>
              <a:t>Source and next step</a:t>
            </a:r>
            <a:endParaRPr sz="3400" b="1">
              <a:solidFill>
                <a:srgbClr val="FFFFFF"/>
              </a:solidFill>
              <a:latin typeface="Inter"/>
            </a:endParaRPr>
          </a:p>
        </p:txBody>
      </p:sp>
      <p:sp>
        <p:nvSpPr>
          <p:cNvPr id="290" name="Rectangle 3"/>
          <p:cNvSpPr/>
          <p:nvPr/>
        </p:nvSpPr>
        <p:spPr>
          <a:xfrm>
            <a:off x="762000" y="1816100"/>
            <a:ext cx="1016000" cy="50800"/>
          </a:xfrm>
          <a:prstGeom prst="rect">
            <a:avLst/>
          </a:prstGeom>
          <a:solidFill>
            <a:srgbClr val="58D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291" name="TextBox 4"/>
          <p:cNvSpPr txBox="1"/>
          <p:nvPr/>
        </p:nvSpPr>
        <p:spPr>
          <a:xfrm>
            <a:off x="762000" y="2286000"/>
            <a:ext cx="10668000" cy="1493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300" b="0">
                <a:solidFill>
                  <a:srgbClr val="D7E3F0"/>
                </a:solidFill>
                <a:latin typeface="Inter"/>
              </a:rPr>
              <a:t>Source: https://github.com/acratt13/tmf-research/blob/47b77af/docs/SERVICE-SPEC.md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Next: select one client problem and verify its complete workflow</a:t>
            </a:r>
            <a:endParaRPr sz="2300" b="0">
              <a:solidFill>
                <a:srgbClr val="D7E3F0"/>
              </a:solidFill>
              <a:latin typeface="Inter"/>
            </a:endParaRPr>
          </a:p>
          <a:p>
            <a:r>
              <a:rPr sz="2300" b="0">
                <a:solidFill>
                  <a:srgbClr val="D7E3F0"/>
                </a:solidFill>
                <a:latin typeface="Inter"/>
              </a:rPr>
              <a:t>Proposed architecture and scope; not production proof</a:t>
            </a:r>
            <a:endParaRPr sz="2300" b="0">
              <a:solidFill>
                <a:srgbClr val="D7E3F0"/>
              </a:solidFill>
              <a:latin typeface="Inter"/>
            </a:endParaRPr>
          </a:p>
        </p:txBody>
      </p:sp>
      <p:sp>
        <p:nvSpPr>
          <p:cNvPr id="292" name="TextBox 5"/>
          <p:cNvSpPr txBox="1"/>
          <p:nvPr/>
        </p:nvSpPr>
        <p:spPr>
          <a:xfrm>
            <a:off x="762000" y="62865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4A8BF"/>
                </a:solidFill>
                <a:latin typeface="Inter"/>
              </a:rPr>
              <a:t>SERVICE READINESS PILOT  /  PROPOSED SCOPE</a:t>
            </a:r>
            <a:endParaRPr sz="1000" b="0">
              <a:solidFill>
                <a:srgbClr val="94A8BF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octurne">
  <a:themeElements>
    <a:clrScheme name="Nocturne">
      <a:dk1>
        <a:srgbClr val="FFFFFF"/>
      </a:dk1>
      <a:lt1>
        <a:srgbClr val="121826"/>
      </a:lt1>
      <a:dk2>
        <a:srgbClr val="F2F4F8"/>
      </a:dk2>
      <a:lt2>
        <a:srgbClr val="1E2638"/>
      </a:lt2>
      <a:accent1>
        <a:srgbClr val="7C5CFF"/>
      </a:accent1>
      <a:accent2>
        <a:srgbClr val="00C2A8"/>
      </a:accent2>
      <a:accent3>
        <a:srgbClr val="FF6B9A"/>
      </a:accent3>
      <a:accent4>
        <a:srgbClr val="FFC53D"/>
      </a:accent4>
      <a:accent5>
        <a:srgbClr val="4DA3FF"/>
      </a:accent5>
      <a:accent6>
        <a:srgbClr val="B2F35F"/>
      </a:accent6>
      <a:hlink>
        <a:srgbClr val="7C5CFF"/>
      </a:hlink>
      <a:folHlink>
        <a:srgbClr val="FF6B9A"/>
      </a:folHlink>
    </a:clrScheme>
    <a:fontScheme name="Noctur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Nocturne">
  <a:themeElements>
    <a:clrScheme name="Nocturne">
      <a:dk1>
        <a:srgbClr val="FFFFFF"/>
      </a:dk1>
      <a:lt1>
        <a:srgbClr val="121826"/>
      </a:lt1>
      <a:dk2>
        <a:srgbClr val="F2F4F8"/>
      </a:dk2>
      <a:lt2>
        <a:srgbClr val="1E2638"/>
      </a:lt2>
      <a:accent1>
        <a:srgbClr val="7C5CFF"/>
      </a:accent1>
      <a:accent2>
        <a:srgbClr val="00C2A8"/>
      </a:accent2>
      <a:accent3>
        <a:srgbClr val="FF6B9A"/>
      </a:accent3>
      <a:accent4>
        <a:srgbClr val="FFC53D"/>
      </a:accent4>
      <a:accent5>
        <a:srgbClr val="4DA3FF"/>
      </a:accent5>
      <a:accent6>
        <a:srgbClr val="B2F35F"/>
      </a:accent6>
      <a:hlink>
        <a:srgbClr val="7C5CFF"/>
      </a:hlink>
      <a:folHlink>
        <a:srgbClr val="FF6B9A"/>
      </a:folHlink>
    </a:clrScheme>
    <a:fontScheme name="Noctur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6</Slides>
  <Notes>1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TMF Systems | Research to delivery</dc:title>
  <dc:creator>TMF Systems</dc:creator>
</cp:coreProperties>
</file>