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See evidence-report.md and report.json for full source URLs, scope and limitations.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01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5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The pilot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60" name="TextBox 3"/>
          <p:cNvSpPr txBox="1"/>
          <p:nvPr/>
        </p:nvSpPr>
        <p:spPr>
          <a:xfrm>
            <a:off x="762000" y="2286000"/>
            <a:ext cx="10668000" cy="210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Proposed offer: assess the current support workflow, then pilot one inbound text channel and a small approved intent set with reliable human takeover. Own the durable case, permissions, recovery and operating evidence. Reuse channel/routing infrastructure; expand voice and financial actions only after separate scoping. Research pack is useful for discovery and build planning; service implementation and commercial demand remain unproven.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6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02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6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65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Public replies and private notes share the comment model. New comments are submitted through ticket create/update, not a comment-create endpoint. Displayed author and authenticated updater can differ.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ZD-COMMENTS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6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03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6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0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Comment bodies above 64 kB can be truncated without an error. Attachment URLs can lead outside the vendor host; credentials must not follow them to third parties.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ZD-COMMENTS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7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04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7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5" name="TextBox 3"/>
          <p:cNvSpPr txBox="1"/>
          <p:nvPr/>
        </p:nvSpPr>
        <p:spPr>
          <a:xfrm>
            <a:off x="762000" y="2286000"/>
            <a:ext cx="10668000" cy="210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Webhook delivery can duplicate or omit events. The documented invocation log covers seven days. An integration needs durable reconciliation beyond that window.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Limit: Reconciliation is our proposed response to the documented delivery limits.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ZD-WEBHOOKS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7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05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7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80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A routing Task is not the durable customer case: rejected or timed-out reservations can return a task to pending; terminal task records are deleted after five minutes.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TW-LIFECYCLE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8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06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8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85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Task updates support ETag/If-Match checks and return 412 on version mismatch. Updating attributes and moving a task to wrapping/completed requires separate requests.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TW-TASK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8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07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8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90" name="TextBox 3"/>
          <p:cNvSpPr txBox="1"/>
          <p:nvPr/>
        </p:nvSpPr>
        <p:spPr>
          <a:xfrm>
            <a:off x="762000" y="2286000"/>
            <a:ext cx="10668000" cy="1097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Reservations are offers to a worker. A reservation that receives no handling decision within its workflow timeout leaves the task available for other workers.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TW-RESERVATION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9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08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9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295" name="TextBox 3"/>
          <p:cNvSpPr txBox="1"/>
          <p:nvPr/>
        </p:nvSpPr>
        <p:spPr>
          <a:xfrm>
            <a:off x="762000" y="2286000"/>
            <a:ext cx="10668000" cy="1097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Twilio recommends SDK request-signature validation, accounting for the exact webhook URL and all received parameters rather than a frozen field list.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TW-SECURITY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9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09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29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00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Stripe API v1 retains the first executed response for a key, including 500 responses; keys may be pruned after at least 24 hours. Reusing a pruned key can create a new operation.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STRIPE-IDEMPOTENCY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30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10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30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Research finding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05" name="TextBox 3"/>
          <p:cNvSpPr txBox="1"/>
          <p:nvPr/>
        </p:nvSpPr>
        <p:spPr>
          <a:xfrm>
            <a:off x="762000" y="2286000"/>
            <a:ext cx="10668000" cy="2103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Selected SDK modules serialize task assignmentStatus, reservation reservationStatus and If-Match headers; task and reservation are distinct resource wrappers.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Limit: REA parsed selected inert release files; direct source readback confirmed these fields. This does not validate the remote API or complete SDK.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Evidence: REA-TWILIO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30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11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309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Build and verify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10" name="TextBox 3"/>
          <p:cNvSpPr txBox="1"/>
          <p:nvPr/>
        </p:nvSpPr>
        <p:spPr>
          <a:xfrm>
            <a:off x="762000" y="2286000"/>
            <a:ext cx="10668000" cy="176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32 proposed requirements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Identity and private-note controls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Durable cases and confirmed human takeover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Idempotent effects and visible recovery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Supervised pilot and measured outcomes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311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1"/>
          <p:cNvSpPr txBox="1"/>
          <p:nvPr/>
        </p:nvSpPr>
        <p:spPr>
          <a:xfrm>
            <a:off x="762000" y="3175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58D6D0"/>
                </a:solidFill>
                <a:latin typeface="Inter"/>
              </a:rPr>
              <a:t>TMF / CUSTOMER SERVICE                         12 / 12</a:t>
            </a:r>
            <a:endParaRPr sz="1300">
              <a:solidFill>
                <a:srgbClr val="58D6D0"/>
              </a:solidFill>
              <a:latin typeface="Inter"/>
            </a:endParaRPr>
          </a:p>
        </p:txBody>
      </p:sp>
      <p:sp>
        <p:nvSpPr>
          <p:cNvPr id="314" name="TextBox 2"/>
          <p:cNvSpPr txBox="1"/>
          <p:nvPr/>
        </p:nvSpPr>
        <p:spPr>
          <a:xfrm>
            <a:off x="762000" y="1079500"/>
            <a:ext cx="10668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Inter"/>
              </a:rPr>
              <a:t>Limits and next decision</a:t>
            </a:r>
            <a:endParaRPr sz="3200">
              <a:solidFill>
                <a:srgbClr val="FFFFFF"/>
              </a:solidFill>
              <a:latin typeface="Inter"/>
            </a:endParaRPr>
          </a:p>
        </p:txBody>
      </p:sp>
      <p:sp>
        <p:nvSpPr>
          <p:cNvPr id="315" name="TextBox 3"/>
          <p:cNvSpPr txBox="1"/>
          <p:nvPr/>
        </p:nvSpPr>
        <p:spPr>
          <a:xfrm>
            <a:off x="762000" y="2286000"/>
            <a:ext cx="10668000" cy="1432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>
                <a:solidFill>
                  <a:srgbClr val="D7E3F0"/>
                </a:solidFill>
                <a:latin typeface="Inter"/>
              </a:rPr>
              <a:t>Operator-assisted research; no autonomous investigation.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No customer-service system implemented or tested.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Choose client, channel, intents and authoritative systems.</a:t>
            </a:r>
            <a:endParaRPr sz="2200">
              <a:solidFill>
                <a:srgbClr val="D7E3F0"/>
              </a:solidFill>
              <a:latin typeface="Inter"/>
            </a:endParaRPr>
          </a:p>
          <a:p>
            <a:r>
              <a:rPr sz="2200">
                <a:solidFill>
                  <a:srgbClr val="D7E3F0"/>
                </a:solidFill>
                <a:latin typeface="Inter"/>
              </a:rPr>
              <a:t>Validate demand, access, costs and acceptance scope.</a:t>
            </a:r>
            <a:endParaRPr sz="2200">
              <a:solidFill>
                <a:srgbClr val="D7E3F0"/>
              </a:solidFill>
              <a:latin typeface="Inter"/>
            </a:endParaRPr>
          </a:p>
        </p:txBody>
      </p:sp>
      <p:sp>
        <p:nvSpPr>
          <p:cNvPr id="316" name="TextBox 4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4A8BF"/>
                </a:solidFill>
                <a:latin typeface="Inter"/>
              </a:rPr>
              <a:t>RESEARCHED BLUEPRINT / PROPOSED SERVICE / NOT IMPLEMENTED</a:t>
            </a:r>
            <a:endParaRPr sz="100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12</Slides>
  <Notes>12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